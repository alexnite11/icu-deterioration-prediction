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81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6B2F04-FF37-4381-BA1A-BB10410965D8}" v="8" dt="2026-05-09T00:12:56.0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967865-18B1-46BC-BD37-5CA098D28D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C1A8B54-77EE-4770-AADE-BEBA875D518E}">
      <dgm:prSet/>
      <dgm:spPr/>
      <dgm:t>
        <a:bodyPr/>
        <a:lstStyle/>
        <a:p>
          <a:r>
            <a:rPr lang="en-US" b="0" i="0" baseline="0">
              <a:solidFill>
                <a:schemeClr val="tx1"/>
              </a:solidFill>
            </a:rPr>
            <a:t>ICU patients can deteriorate rapidly</a:t>
          </a:r>
          <a:endParaRPr lang="en-US">
            <a:solidFill>
              <a:schemeClr val="tx1"/>
            </a:solidFill>
          </a:endParaRPr>
        </a:p>
      </dgm:t>
    </dgm:pt>
    <dgm:pt modelId="{FE2AD945-8D9D-436C-B585-0318FC4E70F5}" type="parTrans" cxnId="{4FD24463-036A-4EB5-A05E-F192CBE2FDF6}">
      <dgm:prSet/>
      <dgm:spPr/>
      <dgm:t>
        <a:bodyPr/>
        <a:lstStyle/>
        <a:p>
          <a:endParaRPr lang="en-US"/>
        </a:p>
      </dgm:t>
    </dgm:pt>
    <dgm:pt modelId="{D54EF989-8FCD-467A-B1B8-18948F9BA592}" type="sibTrans" cxnId="{4FD24463-036A-4EB5-A05E-F192CBE2FDF6}">
      <dgm:prSet/>
      <dgm:spPr/>
      <dgm:t>
        <a:bodyPr/>
        <a:lstStyle/>
        <a:p>
          <a:endParaRPr lang="en-US"/>
        </a:p>
      </dgm:t>
    </dgm:pt>
    <dgm:pt modelId="{D6DEFF5C-BB7B-4C8E-8BD4-61018C133F43}">
      <dgm:prSet/>
      <dgm:spPr/>
      <dgm:t>
        <a:bodyPr/>
        <a:lstStyle/>
        <a:p>
          <a:r>
            <a:rPr lang="en-US" b="0" i="0" baseline="0" dirty="0">
              <a:solidFill>
                <a:schemeClr val="tx1"/>
              </a:solidFill>
            </a:rPr>
            <a:t>Early warning signs are subtle, nonlinear, and easily missed</a:t>
          </a:r>
          <a:endParaRPr lang="en-US" dirty="0">
            <a:solidFill>
              <a:schemeClr val="tx1"/>
            </a:solidFill>
          </a:endParaRPr>
        </a:p>
      </dgm:t>
    </dgm:pt>
    <dgm:pt modelId="{431A8851-832B-4A8E-8E1D-4403A61417CC}" type="parTrans" cxnId="{5C06DE78-F044-46FC-A7E9-17823455C2C7}">
      <dgm:prSet/>
      <dgm:spPr/>
      <dgm:t>
        <a:bodyPr/>
        <a:lstStyle/>
        <a:p>
          <a:endParaRPr lang="en-US"/>
        </a:p>
      </dgm:t>
    </dgm:pt>
    <dgm:pt modelId="{448984E8-121C-45F7-B4F9-290AE19B335F}" type="sibTrans" cxnId="{5C06DE78-F044-46FC-A7E9-17823455C2C7}">
      <dgm:prSet/>
      <dgm:spPr/>
      <dgm:t>
        <a:bodyPr/>
        <a:lstStyle/>
        <a:p>
          <a:endParaRPr lang="en-US"/>
        </a:p>
      </dgm:t>
    </dgm:pt>
    <dgm:pt modelId="{04B0803F-13DC-4F08-998D-2EE2A13A48FB}">
      <dgm:prSet/>
      <dgm:spPr/>
      <dgm:t>
        <a:bodyPr/>
        <a:lstStyle/>
        <a:p>
          <a:r>
            <a:rPr lang="en-US" b="0" i="0" baseline="0">
              <a:solidFill>
                <a:schemeClr val="tx1"/>
              </a:solidFill>
            </a:rPr>
            <a:t>Traditional scoring systems (e.g., APACHE) capture severity but not dynamics</a:t>
          </a:r>
          <a:endParaRPr lang="en-US">
            <a:solidFill>
              <a:schemeClr val="tx1"/>
            </a:solidFill>
          </a:endParaRPr>
        </a:p>
      </dgm:t>
    </dgm:pt>
    <dgm:pt modelId="{E365AD89-B0EA-4BD3-B5AD-F30602DE465D}" type="parTrans" cxnId="{09D0151E-91DC-4C92-99D1-952D47382FE3}">
      <dgm:prSet/>
      <dgm:spPr/>
      <dgm:t>
        <a:bodyPr/>
        <a:lstStyle/>
        <a:p>
          <a:endParaRPr lang="en-US"/>
        </a:p>
      </dgm:t>
    </dgm:pt>
    <dgm:pt modelId="{1B020F2F-036E-4F81-80D7-4C001B7A26E7}" type="sibTrans" cxnId="{09D0151E-91DC-4C92-99D1-952D47382FE3}">
      <dgm:prSet/>
      <dgm:spPr/>
      <dgm:t>
        <a:bodyPr/>
        <a:lstStyle/>
        <a:p>
          <a:endParaRPr lang="en-US"/>
        </a:p>
      </dgm:t>
    </dgm:pt>
    <dgm:pt modelId="{497836C6-F3A7-4BE7-8E91-E67890798B3E}">
      <dgm:prSet/>
      <dgm:spPr/>
      <dgm:t>
        <a:bodyPr/>
        <a:lstStyle/>
        <a:p>
          <a:r>
            <a:rPr lang="en-US" b="0" i="0" baseline="0">
              <a:solidFill>
                <a:schemeClr val="tx1"/>
              </a:solidFill>
            </a:rPr>
            <a:t>Machine learning can detect complex, multi‑system interactions</a:t>
          </a:r>
          <a:endParaRPr lang="en-US">
            <a:solidFill>
              <a:schemeClr val="tx1"/>
            </a:solidFill>
          </a:endParaRPr>
        </a:p>
      </dgm:t>
    </dgm:pt>
    <dgm:pt modelId="{44D461CE-A898-4C49-82BD-21A99A37E6A1}" type="parTrans" cxnId="{DA48B61C-73D5-431F-B219-732FD9AE24D0}">
      <dgm:prSet/>
      <dgm:spPr/>
      <dgm:t>
        <a:bodyPr/>
        <a:lstStyle/>
        <a:p>
          <a:endParaRPr lang="en-US"/>
        </a:p>
      </dgm:t>
    </dgm:pt>
    <dgm:pt modelId="{28574D7A-B8D4-4E89-9321-1C38A069DF42}" type="sibTrans" cxnId="{DA48B61C-73D5-431F-B219-732FD9AE24D0}">
      <dgm:prSet/>
      <dgm:spPr/>
      <dgm:t>
        <a:bodyPr/>
        <a:lstStyle/>
        <a:p>
          <a:endParaRPr lang="en-US"/>
        </a:p>
      </dgm:t>
    </dgm:pt>
    <dgm:pt modelId="{90433649-9FA8-49B2-A351-B6A35FED97BF}" type="pres">
      <dgm:prSet presAssocID="{A5967865-18B1-46BC-BD37-5CA098D28D65}" presName="linear" presStyleCnt="0">
        <dgm:presLayoutVars>
          <dgm:animLvl val="lvl"/>
          <dgm:resizeHandles val="exact"/>
        </dgm:presLayoutVars>
      </dgm:prSet>
      <dgm:spPr/>
    </dgm:pt>
    <dgm:pt modelId="{960ED5F4-0834-420E-B20B-611FA4169DCA}" type="pres">
      <dgm:prSet presAssocID="{3C1A8B54-77EE-4770-AADE-BEBA875D518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38E1EF5-A956-4F93-B93C-758992245DE5}" type="pres">
      <dgm:prSet presAssocID="{D54EF989-8FCD-467A-B1B8-18948F9BA592}" presName="spacer" presStyleCnt="0"/>
      <dgm:spPr/>
    </dgm:pt>
    <dgm:pt modelId="{BC0ADE04-6788-488B-B7E2-85907094DA9F}" type="pres">
      <dgm:prSet presAssocID="{D6DEFF5C-BB7B-4C8E-8BD4-61018C133F4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87AE97-6F69-46CE-B16F-5885184E7700}" type="pres">
      <dgm:prSet presAssocID="{448984E8-121C-45F7-B4F9-290AE19B335F}" presName="spacer" presStyleCnt="0"/>
      <dgm:spPr/>
    </dgm:pt>
    <dgm:pt modelId="{61FD550F-CBD1-4BAE-B3A1-48D4C6A46EF9}" type="pres">
      <dgm:prSet presAssocID="{04B0803F-13DC-4F08-998D-2EE2A13A48F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D804E61-5F9D-41B1-9D9C-8D3BF451F648}" type="pres">
      <dgm:prSet presAssocID="{1B020F2F-036E-4F81-80D7-4C001B7A26E7}" presName="spacer" presStyleCnt="0"/>
      <dgm:spPr/>
    </dgm:pt>
    <dgm:pt modelId="{741EC9C8-5E2D-46F9-9F35-8595497E7167}" type="pres">
      <dgm:prSet presAssocID="{497836C6-F3A7-4BE7-8E91-E67890798B3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D58E006-B0CD-42FF-AA58-2EF2F343A775}" type="presOf" srcId="{3C1A8B54-77EE-4770-AADE-BEBA875D518E}" destId="{960ED5F4-0834-420E-B20B-611FA4169DCA}" srcOrd="0" destOrd="0" presId="urn:microsoft.com/office/officeart/2005/8/layout/vList2"/>
    <dgm:cxn modelId="{DA48B61C-73D5-431F-B219-732FD9AE24D0}" srcId="{A5967865-18B1-46BC-BD37-5CA098D28D65}" destId="{497836C6-F3A7-4BE7-8E91-E67890798B3E}" srcOrd="3" destOrd="0" parTransId="{44D461CE-A898-4C49-82BD-21A99A37E6A1}" sibTransId="{28574D7A-B8D4-4E89-9321-1C38A069DF42}"/>
    <dgm:cxn modelId="{09D0151E-91DC-4C92-99D1-952D47382FE3}" srcId="{A5967865-18B1-46BC-BD37-5CA098D28D65}" destId="{04B0803F-13DC-4F08-998D-2EE2A13A48FB}" srcOrd="2" destOrd="0" parTransId="{E365AD89-B0EA-4BD3-B5AD-F30602DE465D}" sibTransId="{1B020F2F-036E-4F81-80D7-4C001B7A26E7}"/>
    <dgm:cxn modelId="{80BD0020-5B79-46AB-B48E-42D721C81023}" type="presOf" srcId="{D6DEFF5C-BB7B-4C8E-8BD4-61018C133F43}" destId="{BC0ADE04-6788-488B-B7E2-85907094DA9F}" srcOrd="0" destOrd="0" presId="urn:microsoft.com/office/officeart/2005/8/layout/vList2"/>
    <dgm:cxn modelId="{4FD24463-036A-4EB5-A05E-F192CBE2FDF6}" srcId="{A5967865-18B1-46BC-BD37-5CA098D28D65}" destId="{3C1A8B54-77EE-4770-AADE-BEBA875D518E}" srcOrd="0" destOrd="0" parTransId="{FE2AD945-8D9D-436C-B585-0318FC4E70F5}" sibTransId="{D54EF989-8FCD-467A-B1B8-18948F9BA592}"/>
    <dgm:cxn modelId="{5C06DE78-F044-46FC-A7E9-17823455C2C7}" srcId="{A5967865-18B1-46BC-BD37-5CA098D28D65}" destId="{D6DEFF5C-BB7B-4C8E-8BD4-61018C133F43}" srcOrd="1" destOrd="0" parTransId="{431A8851-832B-4A8E-8E1D-4403A61417CC}" sibTransId="{448984E8-121C-45F7-B4F9-290AE19B335F}"/>
    <dgm:cxn modelId="{26D7437C-6AD7-4C8D-B0AD-C28DCE4092E9}" type="presOf" srcId="{A5967865-18B1-46BC-BD37-5CA098D28D65}" destId="{90433649-9FA8-49B2-A351-B6A35FED97BF}" srcOrd="0" destOrd="0" presId="urn:microsoft.com/office/officeart/2005/8/layout/vList2"/>
    <dgm:cxn modelId="{F69CCDA7-A895-4F46-9D74-D80D9BA47747}" type="presOf" srcId="{497836C6-F3A7-4BE7-8E91-E67890798B3E}" destId="{741EC9C8-5E2D-46F9-9F35-8595497E7167}" srcOrd="0" destOrd="0" presId="urn:microsoft.com/office/officeart/2005/8/layout/vList2"/>
    <dgm:cxn modelId="{2BC099D2-317B-4B09-A26E-CFB71B385833}" type="presOf" srcId="{04B0803F-13DC-4F08-998D-2EE2A13A48FB}" destId="{61FD550F-CBD1-4BAE-B3A1-48D4C6A46EF9}" srcOrd="0" destOrd="0" presId="urn:microsoft.com/office/officeart/2005/8/layout/vList2"/>
    <dgm:cxn modelId="{1C53DB27-569E-4582-A9C2-5751E142DFB9}" type="presParOf" srcId="{90433649-9FA8-49B2-A351-B6A35FED97BF}" destId="{960ED5F4-0834-420E-B20B-611FA4169DCA}" srcOrd="0" destOrd="0" presId="urn:microsoft.com/office/officeart/2005/8/layout/vList2"/>
    <dgm:cxn modelId="{009F3534-C9CF-4D07-AD1E-6CBB1FEDF7E9}" type="presParOf" srcId="{90433649-9FA8-49B2-A351-B6A35FED97BF}" destId="{438E1EF5-A956-4F93-B93C-758992245DE5}" srcOrd="1" destOrd="0" presId="urn:microsoft.com/office/officeart/2005/8/layout/vList2"/>
    <dgm:cxn modelId="{293FC23A-0083-41AC-A7E2-EFE1A417C7AB}" type="presParOf" srcId="{90433649-9FA8-49B2-A351-B6A35FED97BF}" destId="{BC0ADE04-6788-488B-B7E2-85907094DA9F}" srcOrd="2" destOrd="0" presId="urn:microsoft.com/office/officeart/2005/8/layout/vList2"/>
    <dgm:cxn modelId="{5A2F6C08-2B4D-4088-A181-863ED709F8EA}" type="presParOf" srcId="{90433649-9FA8-49B2-A351-B6A35FED97BF}" destId="{A787AE97-6F69-46CE-B16F-5885184E7700}" srcOrd="3" destOrd="0" presId="urn:microsoft.com/office/officeart/2005/8/layout/vList2"/>
    <dgm:cxn modelId="{4C2B339D-D417-4048-A0FA-CAD0A8309CE6}" type="presParOf" srcId="{90433649-9FA8-49B2-A351-B6A35FED97BF}" destId="{61FD550F-CBD1-4BAE-B3A1-48D4C6A46EF9}" srcOrd="4" destOrd="0" presId="urn:microsoft.com/office/officeart/2005/8/layout/vList2"/>
    <dgm:cxn modelId="{242B81ED-74A2-478E-A3C3-CD105C6450B8}" type="presParOf" srcId="{90433649-9FA8-49B2-A351-B6A35FED97BF}" destId="{DD804E61-5F9D-41B1-9D9C-8D3BF451F648}" srcOrd="5" destOrd="0" presId="urn:microsoft.com/office/officeart/2005/8/layout/vList2"/>
    <dgm:cxn modelId="{95C45449-1105-4297-9422-54AD82B9CF40}" type="presParOf" srcId="{90433649-9FA8-49B2-A351-B6A35FED97BF}" destId="{741EC9C8-5E2D-46F9-9F35-8595497E716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1756E2-1428-427F-B526-C481BAAA9A8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9A7C540-8335-4BF1-BF6B-5C6C77765A30}">
      <dgm:prSet custT="1"/>
      <dgm:spPr/>
      <dgm:t>
        <a:bodyPr/>
        <a:lstStyle/>
        <a:p>
          <a:r>
            <a:rPr lang="en-US" sz="2400" i="1" dirty="0"/>
            <a:t>Logistic Regression: perfect recall, lower precision</a:t>
          </a:r>
          <a:endParaRPr lang="en-US" sz="2400" dirty="0"/>
        </a:p>
      </dgm:t>
    </dgm:pt>
    <dgm:pt modelId="{57EAE437-5A35-471B-B4EB-C250C9FCB0EB}" type="parTrans" cxnId="{7C710FAC-BB86-470D-A546-CC03E28D86E5}">
      <dgm:prSet/>
      <dgm:spPr/>
      <dgm:t>
        <a:bodyPr/>
        <a:lstStyle/>
        <a:p>
          <a:endParaRPr lang="en-US"/>
        </a:p>
      </dgm:t>
    </dgm:pt>
    <dgm:pt modelId="{B92462ED-DAA1-4375-8410-5B3C2DF42210}" type="sibTrans" cxnId="{7C710FAC-BB86-470D-A546-CC03E28D86E5}">
      <dgm:prSet/>
      <dgm:spPr/>
      <dgm:t>
        <a:bodyPr/>
        <a:lstStyle/>
        <a:p>
          <a:endParaRPr lang="en-US"/>
        </a:p>
      </dgm:t>
    </dgm:pt>
    <dgm:pt modelId="{E63B6250-ABE1-45A6-9612-BCA5A53B1A30}">
      <dgm:prSet custT="1"/>
      <dgm:spPr/>
      <dgm:t>
        <a:bodyPr/>
        <a:lstStyle/>
        <a:p>
          <a:r>
            <a:rPr lang="en-US" sz="2400" i="1"/>
            <a:t>Random Forest: perfect precision, low recall</a:t>
          </a:r>
          <a:endParaRPr lang="en-US" sz="2400"/>
        </a:p>
      </dgm:t>
    </dgm:pt>
    <dgm:pt modelId="{EE7A8168-9167-456A-9919-B07A079B124B}" type="parTrans" cxnId="{2B72F56D-4228-413D-833E-E66518E62765}">
      <dgm:prSet/>
      <dgm:spPr/>
      <dgm:t>
        <a:bodyPr/>
        <a:lstStyle/>
        <a:p>
          <a:endParaRPr lang="en-US"/>
        </a:p>
      </dgm:t>
    </dgm:pt>
    <dgm:pt modelId="{017E700E-ED0D-44F3-8A4D-871620B970DF}" type="sibTrans" cxnId="{2B72F56D-4228-413D-833E-E66518E62765}">
      <dgm:prSet/>
      <dgm:spPr/>
      <dgm:t>
        <a:bodyPr/>
        <a:lstStyle/>
        <a:p>
          <a:endParaRPr lang="en-US"/>
        </a:p>
      </dgm:t>
    </dgm:pt>
    <dgm:pt modelId="{21F04E5F-79C8-4BA8-8AD6-32C0AD42FFAE}">
      <dgm:prSet custT="1"/>
      <dgm:spPr/>
      <dgm:t>
        <a:bodyPr/>
        <a:lstStyle/>
        <a:p>
          <a:r>
            <a:rPr lang="en-US" sz="2400" i="1"/>
            <a:t>LightGBM: best balance across all metrics</a:t>
          </a:r>
          <a:endParaRPr lang="en-US" sz="2400"/>
        </a:p>
      </dgm:t>
    </dgm:pt>
    <dgm:pt modelId="{D18BFB54-61FF-4630-8110-D2875D07AFBF}" type="parTrans" cxnId="{1E75EC0E-F3B9-45A4-9B85-D2E52BF4A0A7}">
      <dgm:prSet/>
      <dgm:spPr/>
      <dgm:t>
        <a:bodyPr/>
        <a:lstStyle/>
        <a:p>
          <a:endParaRPr lang="en-US"/>
        </a:p>
      </dgm:t>
    </dgm:pt>
    <dgm:pt modelId="{5FD75871-05C4-4A89-8813-AE6573651343}" type="sibTrans" cxnId="{1E75EC0E-F3B9-45A4-9B85-D2E52BF4A0A7}">
      <dgm:prSet/>
      <dgm:spPr/>
      <dgm:t>
        <a:bodyPr/>
        <a:lstStyle/>
        <a:p>
          <a:endParaRPr lang="en-US"/>
        </a:p>
      </dgm:t>
    </dgm:pt>
    <dgm:pt modelId="{101F8912-3CFD-490C-8D35-E9B6DBC17D97}">
      <dgm:prSet custT="1"/>
      <dgm:spPr/>
      <dgm:t>
        <a:bodyPr/>
        <a:lstStyle/>
        <a:p>
          <a:r>
            <a:rPr lang="en-US" sz="2400" i="1"/>
            <a:t>XGBoost: strong but slightly lower precision</a:t>
          </a:r>
          <a:endParaRPr lang="en-US" sz="2400"/>
        </a:p>
      </dgm:t>
    </dgm:pt>
    <dgm:pt modelId="{C6C75CBA-30A5-4A56-A18A-DDA635E6AE52}" type="parTrans" cxnId="{6F538E5C-50F2-442D-B42D-029DE639F057}">
      <dgm:prSet/>
      <dgm:spPr/>
      <dgm:t>
        <a:bodyPr/>
        <a:lstStyle/>
        <a:p>
          <a:endParaRPr lang="en-US"/>
        </a:p>
      </dgm:t>
    </dgm:pt>
    <dgm:pt modelId="{1B550CD6-603F-4C0F-AA07-513D0BEC29A2}" type="sibTrans" cxnId="{6F538E5C-50F2-442D-B42D-029DE639F057}">
      <dgm:prSet/>
      <dgm:spPr/>
      <dgm:t>
        <a:bodyPr/>
        <a:lstStyle/>
        <a:p>
          <a:endParaRPr lang="en-US"/>
        </a:p>
      </dgm:t>
    </dgm:pt>
    <dgm:pt modelId="{539B735F-C609-49A8-9F0F-031BB866F5EA}">
      <dgm:prSet custT="1"/>
      <dgm:spPr/>
      <dgm:t>
        <a:bodyPr/>
        <a:lstStyle/>
        <a:p>
          <a:r>
            <a:rPr lang="en-US" sz="2400" i="1"/>
            <a:t>KNN: weakest due to high‑dimensional space</a:t>
          </a:r>
          <a:endParaRPr lang="en-US" sz="2400"/>
        </a:p>
      </dgm:t>
    </dgm:pt>
    <dgm:pt modelId="{EC877647-E0C2-4922-9F50-D06A099084D0}" type="parTrans" cxnId="{925FBB6B-8DD0-4970-BC42-3B16D98A2E42}">
      <dgm:prSet/>
      <dgm:spPr/>
      <dgm:t>
        <a:bodyPr/>
        <a:lstStyle/>
        <a:p>
          <a:endParaRPr lang="en-US"/>
        </a:p>
      </dgm:t>
    </dgm:pt>
    <dgm:pt modelId="{5C15A8AC-0A98-4D66-BA7D-CF023EE6E044}" type="sibTrans" cxnId="{925FBB6B-8DD0-4970-BC42-3B16D98A2E42}">
      <dgm:prSet/>
      <dgm:spPr/>
      <dgm:t>
        <a:bodyPr/>
        <a:lstStyle/>
        <a:p>
          <a:endParaRPr lang="en-US"/>
        </a:p>
      </dgm:t>
    </dgm:pt>
    <dgm:pt modelId="{9F5B0A03-AF4B-4DA2-ABF1-F05E2A97A061}" type="pres">
      <dgm:prSet presAssocID="{FB1756E2-1428-427F-B526-C481BAAA9A83}" presName="linear" presStyleCnt="0">
        <dgm:presLayoutVars>
          <dgm:animLvl val="lvl"/>
          <dgm:resizeHandles val="exact"/>
        </dgm:presLayoutVars>
      </dgm:prSet>
      <dgm:spPr/>
    </dgm:pt>
    <dgm:pt modelId="{3647A659-3FDB-4D7D-9ED8-78B174DDFEF6}" type="pres">
      <dgm:prSet presAssocID="{D9A7C540-8335-4BF1-BF6B-5C6C77765A3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B466CE9-A1B2-45B2-8793-063C17D76857}" type="pres">
      <dgm:prSet presAssocID="{B92462ED-DAA1-4375-8410-5B3C2DF42210}" presName="spacer" presStyleCnt="0"/>
      <dgm:spPr/>
    </dgm:pt>
    <dgm:pt modelId="{CE1FCBA4-23C6-433C-B770-F1511C3A77FF}" type="pres">
      <dgm:prSet presAssocID="{E63B6250-ABE1-45A6-9612-BCA5A53B1A3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AEDFE6A-F027-467C-9EE6-C8709DAEF382}" type="pres">
      <dgm:prSet presAssocID="{017E700E-ED0D-44F3-8A4D-871620B970DF}" presName="spacer" presStyleCnt="0"/>
      <dgm:spPr/>
    </dgm:pt>
    <dgm:pt modelId="{AD98E341-BF67-48AF-9F17-54C8BF72B0BB}" type="pres">
      <dgm:prSet presAssocID="{21F04E5F-79C8-4BA8-8AD6-32C0AD42FFA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31F602C-A19B-489F-B23E-FEB7C25B61EF}" type="pres">
      <dgm:prSet presAssocID="{5FD75871-05C4-4A89-8813-AE6573651343}" presName="spacer" presStyleCnt="0"/>
      <dgm:spPr/>
    </dgm:pt>
    <dgm:pt modelId="{64B5090E-96EE-41A2-BD14-1D6BB9276B0D}" type="pres">
      <dgm:prSet presAssocID="{101F8912-3CFD-490C-8D35-E9B6DBC17D9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3A85194-A5EA-43B6-9F79-74E5D310708C}" type="pres">
      <dgm:prSet presAssocID="{1B550CD6-603F-4C0F-AA07-513D0BEC29A2}" presName="spacer" presStyleCnt="0"/>
      <dgm:spPr/>
    </dgm:pt>
    <dgm:pt modelId="{81B3F68E-55DE-4E25-A23B-5476DA04063B}" type="pres">
      <dgm:prSet presAssocID="{539B735F-C609-49A8-9F0F-031BB866F5E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7473701-618B-4787-A5C3-228468CD5249}" type="presOf" srcId="{539B735F-C609-49A8-9F0F-031BB866F5EA}" destId="{81B3F68E-55DE-4E25-A23B-5476DA04063B}" srcOrd="0" destOrd="0" presId="urn:microsoft.com/office/officeart/2005/8/layout/vList2"/>
    <dgm:cxn modelId="{1E75EC0E-F3B9-45A4-9B85-D2E52BF4A0A7}" srcId="{FB1756E2-1428-427F-B526-C481BAAA9A83}" destId="{21F04E5F-79C8-4BA8-8AD6-32C0AD42FFAE}" srcOrd="2" destOrd="0" parTransId="{D18BFB54-61FF-4630-8110-D2875D07AFBF}" sibTransId="{5FD75871-05C4-4A89-8813-AE6573651343}"/>
    <dgm:cxn modelId="{6F538E5C-50F2-442D-B42D-029DE639F057}" srcId="{FB1756E2-1428-427F-B526-C481BAAA9A83}" destId="{101F8912-3CFD-490C-8D35-E9B6DBC17D97}" srcOrd="3" destOrd="0" parTransId="{C6C75CBA-30A5-4A56-A18A-DDA635E6AE52}" sibTransId="{1B550CD6-603F-4C0F-AA07-513D0BEC29A2}"/>
    <dgm:cxn modelId="{9E257644-0408-4282-A444-FB6C013EB8DC}" type="presOf" srcId="{FB1756E2-1428-427F-B526-C481BAAA9A83}" destId="{9F5B0A03-AF4B-4DA2-ABF1-F05E2A97A061}" srcOrd="0" destOrd="0" presId="urn:microsoft.com/office/officeart/2005/8/layout/vList2"/>
    <dgm:cxn modelId="{925FBB6B-8DD0-4970-BC42-3B16D98A2E42}" srcId="{FB1756E2-1428-427F-B526-C481BAAA9A83}" destId="{539B735F-C609-49A8-9F0F-031BB866F5EA}" srcOrd="4" destOrd="0" parTransId="{EC877647-E0C2-4922-9F50-D06A099084D0}" sibTransId="{5C15A8AC-0A98-4D66-BA7D-CF023EE6E044}"/>
    <dgm:cxn modelId="{2B72F56D-4228-413D-833E-E66518E62765}" srcId="{FB1756E2-1428-427F-B526-C481BAAA9A83}" destId="{E63B6250-ABE1-45A6-9612-BCA5A53B1A30}" srcOrd="1" destOrd="0" parTransId="{EE7A8168-9167-456A-9919-B07A079B124B}" sibTransId="{017E700E-ED0D-44F3-8A4D-871620B970DF}"/>
    <dgm:cxn modelId="{34445582-4F00-45A1-B715-0E2DB997336B}" type="presOf" srcId="{E63B6250-ABE1-45A6-9612-BCA5A53B1A30}" destId="{CE1FCBA4-23C6-433C-B770-F1511C3A77FF}" srcOrd="0" destOrd="0" presId="urn:microsoft.com/office/officeart/2005/8/layout/vList2"/>
    <dgm:cxn modelId="{69357096-C2DF-44B7-AC70-833CEA43F31F}" type="presOf" srcId="{D9A7C540-8335-4BF1-BF6B-5C6C77765A30}" destId="{3647A659-3FDB-4D7D-9ED8-78B174DDFEF6}" srcOrd="0" destOrd="0" presId="urn:microsoft.com/office/officeart/2005/8/layout/vList2"/>
    <dgm:cxn modelId="{31DCD49B-53C0-42BA-B711-35A414216EE7}" type="presOf" srcId="{21F04E5F-79C8-4BA8-8AD6-32C0AD42FFAE}" destId="{AD98E341-BF67-48AF-9F17-54C8BF72B0BB}" srcOrd="0" destOrd="0" presId="urn:microsoft.com/office/officeart/2005/8/layout/vList2"/>
    <dgm:cxn modelId="{7C710FAC-BB86-470D-A546-CC03E28D86E5}" srcId="{FB1756E2-1428-427F-B526-C481BAAA9A83}" destId="{D9A7C540-8335-4BF1-BF6B-5C6C77765A30}" srcOrd="0" destOrd="0" parTransId="{57EAE437-5A35-471B-B4EB-C250C9FCB0EB}" sibTransId="{B92462ED-DAA1-4375-8410-5B3C2DF42210}"/>
    <dgm:cxn modelId="{459C14CD-F373-410D-876D-181A647EB9A9}" type="presOf" srcId="{101F8912-3CFD-490C-8D35-E9B6DBC17D97}" destId="{64B5090E-96EE-41A2-BD14-1D6BB9276B0D}" srcOrd="0" destOrd="0" presId="urn:microsoft.com/office/officeart/2005/8/layout/vList2"/>
    <dgm:cxn modelId="{7B8E7836-98DF-4705-975E-8A168F300E67}" type="presParOf" srcId="{9F5B0A03-AF4B-4DA2-ABF1-F05E2A97A061}" destId="{3647A659-3FDB-4D7D-9ED8-78B174DDFEF6}" srcOrd="0" destOrd="0" presId="urn:microsoft.com/office/officeart/2005/8/layout/vList2"/>
    <dgm:cxn modelId="{C229F00D-1C97-4968-9259-0C6E5DC9F801}" type="presParOf" srcId="{9F5B0A03-AF4B-4DA2-ABF1-F05E2A97A061}" destId="{FB466CE9-A1B2-45B2-8793-063C17D76857}" srcOrd="1" destOrd="0" presId="urn:microsoft.com/office/officeart/2005/8/layout/vList2"/>
    <dgm:cxn modelId="{68692C88-EBEE-4A52-AFC5-67B2C7BD718C}" type="presParOf" srcId="{9F5B0A03-AF4B-4DA2-ABF1-F05E2A97A061}" destId="{CE1FCBA4-23C6-433C-B770-F1511C3A77FF}" srcOrd="2" destOrd="0" presId="urn:microsoft.com/office/officeart/2005/8/layout/vList2"/>
    <dgm:cxn modelId="{5CE19E27-E293-4724-A541-99D6DF12C45E}" type="presParOf" srcId="{9F5B0A03-AF4B-4DA2-ABF1-F05E2A97A061}" destId="{3AEDFE6A-F027-467C-9EE6-C8709DAEF382}" srcOrd="3" destOrd="0" presId="urn:microsoft.com/office/officeart/2005/8/layout/vList2"/>
    <dgm:cxn modelId="{0BCA3A31-291A-460D-8462-5E4582860532}" type="presParOf" srcId="{9F5B0A03-AF4B-4DA2-ABF1-F05E2A97A061}" destId="{AD98E341-BF67-48AF-9F17-54C8BF72B0BB}" srcOrd="4" destOrd="0" presId="urn:microsoft.com/office/officeart/2005/8/layout/vList2"/>
    <dgm:cxn modelId="{81B98761-9A24-4199-8F2C-99F09AB1EAB1}" type="presParOf" srcId="{9F5B0A03-AF4B-4DA2-ABF1-F05E2A97A061}" destId="{231F602C-A19B-489F-B23E-FEB7C25B61EF}" srcOrd="5" destOrd="0" presId="urn:microsoft.com/office/officeart/2005/8/layout/vList2"/>
    <dgm:cxn modelId="{1A2DEE16-261E-486B-A1C9-D031568BDB51}" type="presParOf" srcId="{9F5B0A03-AF4B-4DA2-ABF1-F05E2A97A061}" destId="{64B5090E-96EE-41A2-BD14-1D6BB9276B0D}" srcOrd="6" destOrd="0" presId="urn:microsoft.com/office/officeart/2005/8/layout/vList2"/>
    <dgm:cxn modelId="{5C0ACCB0-7C80-42B0-8666-782A50F8CE1E}" type="presParOf" srcId="{9F5B0A03-AF4B-4DA2-ABF1-F05E2A97A061}" destId="{33A85194-A5EA-43B6-9F79-74E5D310708C}" srcOrd="7" destOrd="0" presId="urn:microsoft.com/office/officeart/2005/8/layout/vList2"/>
    <dgm:cxn modelId="{B4661673-38C5-4539-B5D1-66C331909D80}" type="presParOf" srcId="{9F5B0A03-AF4B-4DA2-ABF1-F05E2A97A061}" destId="{81B3F68E-55DE-4E25-A23B-5476DA04063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0ED5F4-0834-420E-B20B-611FA4169DCA}">
      <dsp:nvSpPr>
        <dsp:cNvPr id="0" name=""/>
        <dsp:cNvSpPr/>
      </dsp:nvSpPr>
      <dsp:spPr>
        <a:xfrm>
          <a:off x="0" y="33873"/>
          <a:ext cx="6096000" cy="7985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>
              <a:solidFill>
                <a:schemeClr val="tx1"/>
              </a:solidFill>
            </a:rPr>
            <a:t>ICU patients can deteriorate rapidly</a:t>
          </a:r>
          <a:endParaRPr lang="en-US" sz="2100" kern="1200">
            <a:solidFill>
              <a:schemeClr val="tx1"/>
            </a:solidFill>
          </a:endParaRPr>
        </a:p>
      </dsp:txBody>
      <dsp:txXfrm>
        <a:off x="38981" y="72854"/>
        <a:ext cx="6018038" cy="720562"/>
      </dsp:txXfrm>
    </dsp:sp>
    <dsp:sp modelId="{BC0ADE04-6788-488B-B7E2-85907094DA9F}">
      <dsp:nvSpPr>
        <dsp:cNvPr id="0" name=""/>
        <dsp:cNvSpPr/>
      </dsp:nvSpPr>
      <dsp:spPr>
        <a:xfrm>
          <a:off x="0" y="892878"/>
          <a:ext cx="6096000" cy="7985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>
              <a:solidFill>
                <a:schemeClr val="tx1"/>
              </a:solidFill>
            </a:rPr>
            <a:t>Early warning signs are subtle, nonlinear, and easily missed</a:t>
          </a:r>
          <a:endParaRPr lang="en-US" sz="2100" kern="1200" dirty="0">
            <a:solidFill>
              <a:schemeClr val="tx1"/>
            </a:solidFill>
          </a:endParaRPr>
        </a:p>
      </dsp:txBody>
      <dsp:txXfrm>
        <a:off x="38981" y="931859"/>
        <a:ext cx="6018038" cy="720562"/>
      </dsp:txXfrm>
    </dsp:sp>
    <dsp:sp modelId="{61FD550F-CBD1-4BAE-B3A1-48D4C6A46EF9}">
      <dsp:nvSpPr>
        <dsp:cNvPr id="0" name=""/>
        <dsp:cNvSpPr/>
      </dsp:nvSpPr>
      <dsp:spPr>
        <a:xfrm>
          <a:off x="0" y="1751883"/>
          <a:ext cx="6096000" cy="7985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>
              <a:solidFill>
                <a:schemeClr val="tx1"/>
              </a:solidFill>
            </a:rPr>
            <a:t>Traditional scoring systems (e.g., APACHE) capture severity but not dynamics</a:t>
          </a:r>
          <a:endParaRPr lang="en-US" sz="2100" kern="1200">
            <a:solidFill>
              <a:schemeClr val="tx1"/>
            </a:solidFill>
          </a:endParaRPr>
        </a:p>
      </dsp:txBody>
      <dsp:txXfrm>
        <a:off x="38981" y="1790864"/>
        <a:ext cx="6018038" cy="720562"/>
      </dsp:txXfrm>
    </dsp:sp>
    <dsp:sp modelId="{741EC9C8-5E2D-46F9-9F35-8595497E7167}">
      <dsp:nvSpPr>
        <dsp:cNvPr id="0" name=""/>
        <dsp:cNvSpPr/>
      </dsp:nvSpPr>
      <dsp:spPr>
        <a:xfrm>
          <a:off x="0" y="2610888"/>
          <a:ext cx="6096000" cy="7985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>
              <a:solidFill>
                <a:schemeClr val="tx1"/>
              </a:solidFill>
            </a:rPr>
            <a:t>Machine learning can detect complex, multi‑system interactions</a:t>
          </a:r>
          <a:endParaRPr lang="en-US" sz="2100" kern="1200">
            <a:solidFill>
              <a:schemeClr val="tx1"/>
            </a:solidFill>
          </a:endParaRPr>
        </a:p>
      </dsp:txBody>
      <dsp:txXfrm>
        <a:off x="38981" y="2649869"/>
        <a:ext cx="6018038" cy="7205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47A659-3FDB-4D7D-9ED8-78B174DDFEF6}">
      <dsp:nvSpPr>
        <dsp:cNvPr id="0" name=""/>
        <dsp:cNvSpPr/>
      </dsp:nvSpPr>
      <dsp:spPr>
        <a:xfrm>
          <a:off x="0" y="537"/>
          <a:ext cx="4845627" cy="7994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kern="1200" dirty="0"/>
            <a:t>Logistic Regression: perfect recall, lower precision</a:t>
          </a:r>
          <a:endParaRPr lang="en-US" sz="2400" kern="1200" dirty="0"/>
        </a:p>
      </dsp:txBody>
      <dsp:txXfrm>
        <a:off x="39024" y="39561"/>
        <a:ext cx="4767579" cy="721368"/>
      </dsp:txXfrm>
    </dsp:sp>
    <dsp:sp modelId="{CE1FCBA4-23C6-433C-B770-F1511C3A77FF}">
      <dsp:nvSpPr>
        <dsp:cNvPr id="0" name=""/>
        <dsp:cNvSpPr/>
      </dsp:nvSpPr>
      <dsp:spPr>
        <a:xfrm>
          <a:off x="0" y="812567"/>
          <a:ext cx="4845627" cy="7994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kern="1200"/>
            <a:t>Random Forest: perfect precision, low recall</a:t>
          </a:r>
          <a:endParaRPr lang="en-US" sz="2400" kern="1200"/>
        </a:p>
      </dsp:txBody>
      <dsp:txXfrm>
        <a:off x="39024" y="851591"/>
        <a:ext cx="4767579" cy="721368"/>
      </dsp:txXfrm>
    </dsp:sp>
    <dsp:sp modelId="{AD98E341-BF67-48AF-9F17-54C8BF72B0BB}">
      <dsp:nvSpPr>
        <dsp:cNvPr id="0" name=""/>
        <dsp:cNvSpPr/>
      </dsp:nvSpPr>
      <dsp:spPr>
        <a:xfrm>
          <a:off x="0" y="1624597"/>
          <a:ext cx="4845627" cy="7994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kern="1200"/>
            <a:t>LightGBM: best balance across all metrics</a:t>
          </a:r>
          <a:endParaRPr lang="en-US" sz="2400" kern="1200"/>
        </a:p>
      </dsp:txBody>
      <dsp:txXfrm>
        <a:off x="39024" y="1663621"/>
        <a:ext cx="4767579" cy="721368"/>
      </dsp:txXfrm>
    </dsp:sp>
    <dsp:sp modelId="{64B5090E-96EE-41A2-BD14-1D6BB9276B0D}">
      <dsp:nvSpPr>
        <dsp:cNvPr id="0" name=""/>
        <dsp:cNvSpPr/>
      </dsp:nvSpPr>
      <dsp:spPr>
        <a:xfrm>
          <a:off x="0" y="2436628"/>
          <a:ext cx="4845627" cy="7994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kern="1200"/>
            <a:t>XGBoost: strong but slightly lower precision</a:t>
          </a:r>
          <a:endParaRPr lang="en-US" sz="2400" kern="1200"/>
        </a:p>
      </dsp:txBody>
      <dsp:txXfrm>
        <a:off x="39024" y="2475652"/>
        <a:ext cx="4767579" cy="721368"/>
      </dsp:txXfrm>
    </dsp:sp>
    <dsp:sp modelId="{81B3F68E-55DE-4E25-A23B-5476DA04063B}">
      <dsp:nvSpPr>
        <dsp:cNvPr id="0" name=""/>
        <dsp:cNvSpPr/>
      </dsp:nvSpPr>
      <dsp:spPr>
        <a:xfrm>
          <a:off x="0" y="3248658"/>
          <a:ext cx="4845627" cy="7994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kern="1200"/>
            <a:t>KNN: weakest due to high‑dimensional space</a:t>
          </a:r>
          <a:endParaRPr lang="en-US" sz="2400" kern="1200"/>
        </a:p>
      </dsp:txBody>
      <dsp:txXfrm>
        <a:off x="39024" y="3287682"/>
        <a:ext cx="4767579" cy="7213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C0D09-7E78-4111-B439-A4D097C5957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6DD947-0F55-4CDD-92A8-2AE0031AC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47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59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3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86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46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48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713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93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60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462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00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06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87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893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717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6569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723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16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57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316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273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53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DD947-0F55-4CDD-92A8-2AE0031AC2E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4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659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917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19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42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66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1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8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25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90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28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46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7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91C9781-1BFB-4400-A1AC-1BEAE6728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AB32CAD-5F08-4EE4-B80D-A9E62A650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6781800" cy="5486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318E3-F389-F7FF-03E1-10A137BBB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7552" y="1371599"/>
            <a:ext cx="5020236" cy="236042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Predicting ICU Patient Deterioration and Mapping Their Trajectories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6A817B-24DD-C25F-E28D-E45FD1586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114800"/>
            <a:ext cx="5410200" cy="137160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Alex Nite</a:t>
            </a:r>
          </a:p>
          <a:p>
            <a:r>
              <a:rPr lang="en-US" dirty="0">
                <a:solidFill>
                  <a:srgbClr val="FFFFFF"/>
                </a:solidFill>
              </a:rPr>
              <a:t>Capstone project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Story pin image">
            <a:extLst>
              <a:ext uri="{FF2B5EF4-FFF2-40B4-BE49-F238E27FC236}">
                <a16:creationId xmlns:a16="http://schemas.microsoft.com/office/drawing/2014/main" id="{4848EB0F-6863-EB30-9CE6-63E42DD9B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4903"/>
          <a:stretch>
            <a:fillRect/>
          </a:stretch>
        </p:blipFill>
        <p:spPr bwMode="auto">
          <a:xfrm>
            <a:off x="8153401" y="10"/>
            <a:ext cx="40386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0364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9202645B-6BFF-4EA4-B0BF-5353316FB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17A1B41C-A6C9-428D-99AF-403AE4433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8392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65" name="Rectangle 2064">
            <a:extLst>
              <a:ext uri="{FF2B5EF4-FFF2-40B4-BE49-F238E27FC236}">
                <a16:creationId xmlns:a16="http://schemas.microsoft.com/office/drawing/2014/main" id="{6E952119-1129-4290-B942-1A0A093B5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5801"/>
            <a:ext cx="7467601" cy="54863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2A94F-882D-0D27-C084-E2040E12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045527"/>
            <a:ext cx="6096000" cy="829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500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Why ICU Deterioration Prediction Matters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219E4905-758A-F1E4-2A85-EF15858D2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51" r="-2" b="22349"/>
          <a:stretch>
            <a:fillRect/>
          </a:stretch>
        </p:blipFill>
        <p:spPr bwMode="auto">
          <a:xfrm>
            <a:off x="8839199" y="10"/>
            <a:ext cx="3361347" cy="231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A80DCF-D12F-0BA2-212C-53B0000265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081" r="27427" b="1"/>
          <a:stretch>
            <a:fillRect/>
          </a:stretch>
        </p:blipFill>
        <p:spPr>
          <a:xfrm>
            <a:off x="8839199" y="4545419"/>
            <a:ext cx="3361347" cy="2312581"/>
          </a:xfrm>
          <a:prstGeom prst="rect">
            <a:avLst/>
          </a:prstGeom>
        </p:spPr>
      </p:pic>
      <p:graphicFrame>
        <p:nvGraphicFramePr>
          <p:cNvPr id="2067" name="Rectangle 6">
            <a:extLst>
              <a:ext uri="{FF2B5EF4-FFF2-40B4-BE49-F238E27FC236}">
                <a16:creationId xmlns:a16="http://schemas.microsoft.com/office/drawing/2014/main" id="{AA0E5F7A-B3D1-1D94-4E99-22D3896B4E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4799575"/>
              </p:ext>
            </p:extLst>
          </p:nvPr>
        </p:nvGraphicFramePr>
        <p:xfrm>
          <a:off x="1371600" y="2135188"/>
          <a:ext cx="6096000" cy="3443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947F8B4E-7517-18B9-E4F0-1E74916A73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9198" y="2312581"/>
            <a:ext cx="3409057" cy="454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35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D949742-730C-4F7B-88BE-E4E69F6D1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DC5C0732-01DA-4A7C-ABF5-56B3C5B0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1" y="685801"/>
            <a:ext cx="4724400" cy="54864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266F90-7B64-6119-BAB6-F1BAB66FA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5978" y="959278"/>
            <a:ext cx="3714872" cy="992512"/>
          </a:xfrm>
        </p:spPr>
        <p:txBody>
          <a:bodyPr>
            <a:normAutofit/>
          </a:bodyPr>
          <a:lstStyle/>
          <a:p>
            <a:pPr algn="ctr"/>
            <a:r>
              <a:rPr lang="en-US" sz="2200" b="1" dirty="0"/>
              <a:t>Central Research Question</a:t>
            </a:r>
            <a:endParaRPr lang="en-US" sz="2200" dirty="0"/>
          </a:p>
        </p:txBody>
      </p:sp>
      <p:pic>
        <p:nvPicPr>
          <p:cNvPr id="3074" name="Picture 2" descr="Story pin image">
            <a:extLst>
              <a:ext uri="{FF2B5EF4-FFF2-40B4-BE49-F238E27FC236}">
                <a16:creationId xmlns:a16="http://schemas.microsoft.com/office/drawing/2014/main" id="{719DBFDC-B01D-DF9B-40C9-E992EF21D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0" r="-1" b="12259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D6244C-35E3-34B2-0066-4B5049766960}"/>
              </a:ext>
            </a:extLst>
          </p:cNvPr>
          <p:cNvSpPr/>
          <p:nvPr/>
        </p:nvSpPr>
        <p:spPr>
          <a:xfrm>
            <a:off x="838200" y="2922335"/>
            <a:ext cx="10601325" cy="1943100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C1B81-293C-559B-3185-9A57207AD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367" y="3147342"/>
            <a:ext cx="10487108" cy="14930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Can time‑series physiological data + demographic + severity metrics accurately predict ICU deterioration and reveal meaningful trajectory patterns?</a:t>
            </a:r>
            <a:endParaRPr lang="en-US" altLang="en-US" sz="3200" b="1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2804FB-BBF7-1624-4930-2C1E293B72B7}"/>
              </a:ext>
            </a:extLst>
          </p:cNvPr>
          <p:cNvSpPr/>
          <p:nvPr/>
        </p:nvSpPr>
        <p:spPr>
          <a:xfrm>
            <a:off x="2695575" y="1171498"/>
            <a:ext cx="6638925" cy="767845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Central Question</a:t>
            </a:r>
          </a:p>
        </p:txBody>
      </p:sp>
    </p:spTree>
    <p:extLst>
      <p:ext uri="{BB962C8B-B14F-4D97-AF65-F5344CB8AC3E}">
        <p14:creationId xmlns:p14="http://schemas.microsoft.com/office/powerpoint/2010/main" val="1060078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9" name="Rectangle 4118">
            <a:extLst>
              <a:ext uri="{FF2B5EF4-FFF2-40B4-BE49-F238E27FC236}">
                <a16:creationId xmlns:a16="http://schemas.microsoft.com/office/drawing/2014/main" id="{C6771E30-A604-493B-BC4C-1AA766591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68F9B-B0F9-2F75-5269-401EC7F2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00" y="496047"/>
            <a:ext cx="6119904" cy="102795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What Prior Work Missed</a:t>
            </a:r>
          </a:p>
        </p:txBody>
      </p:sp>
      <p:sp>
        <p:nvSpPr>
          <p:cNvPr id="4121" name="Rectangle 4120">
            <a:extLst>
              <a:ext uri="{FF2B5EF4-FFF2-40B4-BE49-F238E27FC236}">
                <a16:creationId xmlns:a16="http://schemas.microsoft.com/office/drawing/2014/main" id="{913EDF91-3802-4360-909F-A0509363D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4762500" cy="6857999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This may contain: black and white photograph of people in a hospital room with medical equipment on the floor">
            <a:extLst>
              <a:ext uri="{FF2B5EF4-FFF2-40B4-BE49-F238E27FC236}">
                <a16:creationId xmlns:a16="http://schemas.microsoft.com/office/drawing/2014/main" id="{D35E96B2-2CA5-F9C4-0069-3EB3CF691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17" r="25983" b="2"/>
          <a:stretch>
            <a:fillRect/>
          </a:stretch>
        </p:blipFill>
        <p:spPr bwMode="auto">
          <a:xfrm>
            <a:off x="685800" y="685800"/>
            <a:ext cx="33909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247A2A28-23E4-00B4-BBD7-F568C2CAD5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64126" y="1817153"/>
            <a:ext cx="6165978" cy="447145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Small feature sets (mostly vital signs)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Limited temporal modeling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 clustering of patient trajectories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Single‑center datasets → limited generalizability</a:t>
            </a:r>
          </a:p>
        </p:txBody>
      </p:sp>
    </p:spTree>
    <p:extLst>
      <p:ext uri="{BB962C8B-B14F-4D97-AF65-F5344CB8AC3E}">
        <p14:creationId xmlns:p14="http://schemas.microsoft.com/office/powerpoint/2010/main" val="540477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D1C247-1E5B-4399-87F8-31C532F0A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F0F311-CB15-4C1D-937F-8DBB429D8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60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6F70DE8-A2A4-4336-A602-73036FEDC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4724400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6DADF-2F1B-AEB9-84AC-0F227C992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6376" y="704850"/>
            <a:ext cx="3815023" cy="10668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dirty="0"/>
              <a:t>Dataset Overview</a:t>
            </a:r>
            <a:br>
              <a:rPr lang="en-US" dirty="0"/>
            </a:b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C37474-18AF-4624-880A-2ACF6A650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48CEA-4645-3C18-66E2-3741495A7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3676" y="1590675"/>
            <a:ext cx="4962524" cy="478885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800" b="1" dirty="0" err="1"/>
              <a:t>eICU</a:t>
            </a:r>
            <a:r>
              <a:rPr lang="en-US" sz="2800" b="1" dirty="0"/>
              <a:t> Collaborative Research Database</a:t>
            </a:r>
            <a:endParaRPr lang="en-US" sz="2800" dirty="0"/>
          </a:p>
          <a:p>
            <a:pPr lvl="1"/>
            <a:r>
              <a:rPr lang="en-US" sz="2400" dirty="0"/>
              <a:t>Multi‑hospital ICU dataset</a:t>
            </a:r>
          </a:p>
          <a:p>
            <a:pPr lvl="1"/>
            <a:r>
              <a:rPr lang="en-US" sz="2400" dirty="0"/>
              <a:t>Demographics</a:t>
            </a:r>
          </a:p>
          <a:p>
            <a:pPr lvl="1"/>
            <a:r>
              <a:rPr lang="en-US" sz="2400" dirty="0"/>
              <a:t>Vital signs (periodic + aperiodic)</a:t>
            </a:r>
          </a:p>
          <a:p>
            <a:pPr lvl="1"/>
            <a:r>
              <a:rPr lang="en-US" sz="2400" dirty="0"/>
              <a:t>Labs</a:t>
            </a:r>
          </a:p>
          <a:p>
            <a:pPr lvl="1"/>
            <a:r>
              <a:rPr lang="en-US" sz="2400" dirty="0"/>
              <a:t>Medications</a:t>
            </a:r>
          </a:p>
          <a:p>
            <a:pPr lvl="1"/>
            <a:r>
              <a:rPr lang="en-US" sz="2400" dirty="0"/>
              <a:t>APACHE severity scores</a:t>
            </a:r>
          </a:p>
          <a:p>
            <a:pPr lvl="1"/>
            <a:r>
              <a:rPr lang="en-US" sz="2400" dirty="0"/>
              <a:t>Mortality outcomes</a:t>
            </a:r>
          </a:p>
          <a:p>
            <a:endParaRPr lang="en-US" sz="2800" dirty="0"/>
          </a:p>
        </p:txBody>
      </p:sp>
      <p:pic>
        <p:nvPicPr>
          <p:cNvPr id="5122" name="Picture 2" descr="This may contain: an empty hallway with black and white flooring is seen in this image from the camera">
            <a:extLst>
              <a:ext uri="{FF2B5EF4-FFF2-40B4-BE49-F238E27FC236}">
                <a16:creationId xmlns:a16="http://schemas.microsoft.com/office/drawing/2014/main" id="{D7BE1B19-50D5-7288-8567-F94BE175C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00150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8669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2867281-7871-4615-A51D-DF8A481C8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BA7CAF-5EE9-4EEE-9E12-B2CECCB94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4676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BC7668-AE28-8D58-11D8-92FD2B3D9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740" y="885825"/>
            <a:ext cx="5643135" cy="58102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Data Preprocessing</a:t>
            </a:r>
            <a:endParaRPr lang="en-US" sz="4000" kern="1200" cap="all" spc="3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14D965-AFDE-4AF3-9F89-26F4DC4B5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400" y="685800"/>
            <a:ext cx="3369445" cy="5486400"/>
          </a:xfrm>
          <a:prstGeom prst="rect">
            <a:avLst/>
          </a:prstGeom>
          <a:solidFill>
            <a:schemeClr val="tx2">
              <a:lumMod val="75000"/>
              <a:lumOff val="2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Story pin image">
            <a:extLst>
              <a:ext uri="{FF2B5EF4-FFF2-40B4-BE49-F238E27FC236}">
                <a16:creationId xmlns:a16="http://schemas.microsoft.com/office/drawing/2014/main" id="{52B48C60-D502-5673-52E8-B2168EF15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399" y="685800"/>
            <a:ext cx="3369446" cy="548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D41634-5246-4AAE-8AE9-D32A00D79AC3}"/>
              </a:ext>
            </a:extLst>
          </p:cNvPr>
          <p:cNvSpPr txBox="1"/>
          <p:nvPr/>
        </p:nvSpPr>
        <p:spPr>
          <a:xfrm>
            <a:off x="714375" y="2181225"/>
            <a:ext cx="63627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Standardized age, imputed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Cleaned labs, medications, diagnoses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Forward/backward filled time‑series vitals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Merged all datasets into patient‑level features</a:t>
            </a:r>
          </a:p>
        </p:txBody>
      </p:sp>
    </p:spTree>
    <p:extLst>
      <p:ext uri="{BB962C8B-B14F-4D97-AF65-F5344CB8AC3E}">
        <p14:creationId xmlns:p14="http://schemas.microsoft.com/office/powerpoint/2010/main" val="2257103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93" name="Rectangle 7192">
            <a:extLst>
              <a:ext uri="{FF2B5EF4-FFF2-40B4-BE49-F238E27FC236}">
                <a16:creationId xmlns:a16="http://schemas.microsoft.com/office/drawing/2014/main" id="{C69E4C79-4A25-4DCA-9CC1-94147A10E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4" name="Rectangle 7193">
            <a:extLst>
              <a:ext uri="{FF2B5EF4-FFF2-40B4-BE49-F238E27FC236}">
                <a16:creationId xmlns:a16="http://schemas.microsoft.com/office/drawing/2014/main" id="{C2794E3E-966D-43D0-B426-D33988B92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-1"/>
            <a:ext cx="6781799" cy="6857999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491240-EEDA-B43D-0CA0-C6C4323DE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861" y="853087"/>
            <a:ext cx="6086474" cy="127915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Exploratory Data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1D34B-75CA-330D-43FC-069746C1C0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1484" y="248932"/>
            <a:ext cx="4415822" cy="2837167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D55075-AD4A-FA43-6390-3523396598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0144" y="3584672"/>
            <a:ext cx="4173038" cy="3244538"/>
          </a:xfrm>
          <a:prstGeom prst="rect">
            <a:avLst/>
          </a:prstGeom>
          <a:noFill/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6875B286-FA9D-B21C-527E-87F680A3B8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49155" y="2771823"/>
            <a:ext cx="5703887" cy="2228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sz="3200" dirty="0"/>
              <a:t>Key EDA Findings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Mortality similar across genders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Age skewed older</a:t>
            </a:r>
          </a:p>
        </p:txBody>
      </p:sp>
    </p:spTree>
    <p:extLst>
      <p:ext uri="{BB962C8B-B14F-4D97-AF65-F5344CB8AC3E}">
        <p14:creationId xmlns:p14="http://schemas.microsoft.com/office/powerpoint/2010/main" val="905408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B58179-ED86-B2F4-CFD6-1B779122B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69E4C79-4A25-4DCA-9CC1-94147A10E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794E3E-966D-43D0-B426-D33988B92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-1"/>
            <a:ext cx="6781799" cy="6857999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96C9A9-DE28-7133-7659-02DED51A4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001" y="1115378"/>
            <a:ext cx="4351024" cy="108830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Exploratory Data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1F6CEE-2234-EEFF-F11A-2AE44469FE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75638" y="157820"/>
            <a:ext cx="5216237" cy="4091727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B43305-9319-52E9-6241-F4BE14B9EF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2063" y="3055461"/>
            <a:ext cx="5178137" cy="3432018"/>
          </a:xfrm>
          <a:prstGeom prst="rect">
            <a:avLst/>
          </a:prstGeom>
          <a:noFill/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C46AF760-96C1-FC24-A043-C95D520383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13004" y="4548146"/>
            <a:ext cx="4941503" cy="31019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lang="en-US" b="1" dirty="0"/>
              <a:t>Key EDA Findings</a:t>
            </a:r>
            <a:endParaRPr kumimoji="0" lang="en-US" altLang="en-US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APACHE strongly correlated with mortality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Vital signs show expected ranges + extreme values</a:t>
            </a:r>
          </a:p>
        </p:txBody>
      </p:sp>
    </p:spTree>
    <p:extLst>
      <p:ext uri="{BB962C8B-B14F-4D97-AF65-F5344CB8AC3E}">
        <p14:creationId xmlns:p14="http://schemas.microsoft.com/office/powerpoint/2010/main" val="2062242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D949742-730C-4F7B-88BE-E4E69F6D1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5C0732-01DA-4A7C-ABF5-56B3C5B0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1" y="685801"/>
            <a:ext cx="4724400" cy="54864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F55CDB-1CAF-92F9-0C1F-3B1D09379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5978" y="959278"/>
            <a:ext cx="3714872" cy="9925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Exploratory Data Analysis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D7770E-F388-6002-ECAC-E9645F606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9" r="8213" b="1"/>
          <a:stretch>
            <a:fillRect/>
          </a:stretch>
        </p:blipFill>
        <p:spPr bwMode="auto">
          <a:xfrm>
            <a:off x="20" y="10"/>
            <a:ext cx="6095980" cy="6857990"/>
          </a:xfrm>
          <a:prstGeom prst="rect">
            <a:avLst/>
          </a:prstGeom>
          <a:noFill/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E4FE2F8-1D53-0FE9-2F07-81FF7FCCBD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32339" y="2118200"/>
            <a:ext cx="3622149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APACHE &amp; acute physiology scores strongly correlate with mortality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Ventilation days correlate with severity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correlates with predicted LOS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Height/weight show weak correlations</a:t>
            </a:r>
          </a:p>
        </p:txBody>
      </p:sp>
    </p:spTree>
    <p:extLst>
      <p:ext uri="{BB962C8B-B14F-4D97-AF65-F5344CB8AC3E}">
        <p14:creationId xmlns:p14="http://schemas.microsoft.com/office/powerpoint/2010/main" val="3295225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103171-0BA0-4AF0-AF05-04AFA1A4A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4AB507-F73F-9FF3-E39A-DE868D784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6604" r="2" b="2397"/>
          <a:stretch>
            <a:fillRect/>
          </a:stretch>
        </p:blipFill>
        <p:spPr>
          <a:xfrm>
            <a:off x="20" y="10"/>
            <a:ext cx="4762480" cy="685798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128B901-D4EA-4C4D-A150-23D2A6DEC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9459" y="1"/>
            <a:ext cx="7482541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60B08A-B322-4C79-AB6D-7E4246352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685800"/>
            <a:ext cx="6099101" cy="5486400"/>
          </a:xfrm>
          <a:prstGeom prst="rect">
            <a:avLst/>
          </a:prstGeom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43878F-D65F-244A-3D4F-5A9CEA250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00" y="866775"/>
            <a:ext cx="6232452" cy="127457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/>
              <a:t>Time‑Series Feature Engineering</a:t>
            </a:r>
            <a:endParaRPr lang="en-US" sz="3600" kern="1200" cap="all" spc="300" baseline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EB4328-A9D4-A3A2-29B1-7EE33D1C1459}"/>
              </a:ext>
            </a:extLst>
          </p:cNvPr>
          <p:cNvSpPr txBox="1"/>
          <p:nvPr/>
        </p:nvSpPr>
        <p:spPr>
          <a:xfrm>
            <a:off x="6316599" y="2397280"/>
            <a:ext cx="4321302" cy="3269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First 24 hours summarized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Means, mins, maxes, SDs for vitals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Lab summaries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Medication counts + dosages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Diagnosis/treatment counts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One‑hot encoding for categorical variables</a:t>
            </a:r>
          </a:p>
        </p:txBody>
      </p:sp>
    </p:spTree>
    <p:extLst>
      <p:ext uri="{BB962C8B-B14F-4D97-AF65-F5344CB8AC3E}">
        <p14:creationId xmlns:p14="http://schemas.microsoft.com/office/powerpoint/2010/main" val="2122354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C6771E30-A604-493B-BC4C-1AA766591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AB5E76-DC97-B3B9-4971-59948918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9960" y="685800"/>
            <a:ext cx="6894825" cy="102795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PCA</a:t>
            </a: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Dimensionality Reduction</a:t>
            </a:r>
            <a:br>
              <a:rPr lang="en-US" b="1" dirty="0"/>
            </a:br>
            <a:r>
              <a:rPr lang="en-US" b="1" dirty="0"/>
              <a:t> Results </a:t>
            </a:r>
          </a:p>
        </p:txBody>
      </p: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913EDF91-3802-4360-909F-A0509363D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4762500" cy="6857999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Story pin image">
            <a:extLst>
              <a:ext uri="{FF2B5EF4-FFF2-40B4-BE49-F238E27FC236}">
                <a16:creationId xmlns:a16="http://schemas.microsoft.com/office/drawing/2014/main" id="{EF6F6254-B84A-6266-EBD6-01494FB65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98" r="3394"/>
          <a:stretch>
            <a:fillRect/>
          </a:stretch>
        </p:blipFill>
        <p:spPr bwMode="auto">
          <a:xfrm>
            <a:off x="685800" y="685800"/>
            <a:ext cx="33909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CC509-3EB0-41E6-6AC0-4F02BC7294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2467" y="2528948"/>
            <a:ext cx="6529810" cy="2418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884 → 427 components (95% variance)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PC1 = global physiological stability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PC4 = respiratory function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PC2/PC3 = renal + inflammatory patterns</a:t>
            </a:r>
          </a:p>
        </p:txBody>
      </p:sp>
    </p:spTree>
    <p:extLst>
      <p:ext uri="{BB962C8B-B14F-4D97-AF65-F5344CB8AC3E}">
        <p14:creationId xmlns:p14="http://schemas.microsoft.com/office/powerpoint/2010/main" val="3977737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591C9781-1BFB-4400-A1AC-1BEAE6728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CAB32CAD-5F08-4EE4-B80D-A9E62A650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6781800" cy="5486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A9B9C2-8B7E-2685-7105-04042543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771" y="760639"/>
            <a:ext cx="5629523" cy="10126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Supervised Learning Overview</a:t>
            </a:r>
            <a:endParaRPr lang="en-US" kern="1200" cap="all" spc="3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8154DC4-7C87-1B39-0F5D-2F408F37C6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4479"/>
          <a:stretch>
            <a:fillRect/>
          </a:stretch>
        </p:blipFill>
        <p:spPr bwMode="auto">
          <a:xfrm>
            <a:off x="8153401" y="10"/>
            <a:ext cx="40386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120079-AEEB-7A88-ABE1-5AD43FC9C5D9}"/>
              </a:ext>
            </a:extLst>
          </p:cNvPr>
          <p:cNvSpPr txBox="1"/>
          <p:nvPr/>
        </p:nvSpPr>
        <p:spPr>
          <a:xfrm>
            <a:off x="963765" y="1848160"/>
            <a:ext cx="622587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chemeClr val="bg1"/>
                </a:solidFill>
                <a:effectLst/>
              </a:rPr>
              <a:t>Models Evaluated</a:t>
            </a:r>
            <a:endParaRPr lang="en-US" sz="22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effectLst/>
              </a:rPr>
              <a:t>Logistic Regression</a:t>
            </a:r>
            <a:endParaRPr lang="en-US" sz="22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effectLst/>
              </a:rPr>
              <a:t>Random Forest</a:t>
            </a:r>
            <a:endParaRPr lang="en-US" sz="22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bg1"/>
                </a:solidFill>
                <a:effectLst/>
              </a:rPr>
              <a:t>LightGBM</a:t>
            </a:r>
            <a:endParaRPr lang="en-US" sz="22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bg1"/>
                </a:solidFill>
                <a:effectLst/>
              </a:rPr>
              <a:t>XGBoost</a:t>
            </a:r>
            <a:endParaRPr lang="en-US" sz="22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effectLst/>
              </a:rPr>
              <a:t>KNN</a:t>
            </a:r>
            <a:endParaRPr lang="en-US" sz="2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200" b="1" dirty="0">
                <a:solidFill>
                  <a:schemeClr val="bg1"/>
                </a:solidFill>
                <a:effectLst/>
              </a:rPr>
              <a:t>Why This Set?</a:t>
            </a:r>
            <a:endParaRPr lang="en-US" sz="22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effectLst/>
              </a:rPr>
              <a:t>Covers linear → nonlinear → boosting paradigms</a:t>
            </a:r>
            <a:endParaRPr lang="en-US" sz="22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effectLst/>
              </a:rPr>
              <a:t>Allows comparison of interpretability vs. performance</a:t>
            </a:r>
            <a:endParaRPr lang="en-US" sz="22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effectLst/>
              </a:rPr>
              <a:t>Handles class imbalance differently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988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54751A9-6FF5-406A-929D-078F616EB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0F8E72-3E98-4CBE-B300-8F78CBE23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7818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FE103DD-5558-49AD-A5A7-DC04B3B05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2164" y="685800"/>
            <a:ext cx="5403836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BB3D0-0A8E-514C-069F-93BB35F9C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371599"/>
            <a:ext cx="4038600" cy="23604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3600" kern="1200" cap="all" spc="300" baseline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6F9E88-84EA-A357-5906-5C09058877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3900" y="720958"/>
            <a:ext cx="5336305" cy="5336942"/>
          </a:xfrm>
          <a:prstGeom prst="rect">
            <a:avLst/>
          </a:prstGeom>
          <a:noFill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A35C58C-EF05-FBD2-BB6E-0BDC9F80F9B0}"/>
              </a:ext>
            </a:extLst>
          </p:cNvPr>
          <p:cNvSpPr txBox="1">
            <a:spLocks/>
          </p:cNvSpPr>
          <p:nvPr/>
        </p:nvSpPr>
        <p:spPr>
          <a:xfrm>
            <a:off x="7114309" y="389457"/>
            <a:ext cx="5020747" cy="12669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2800" b="1" dirty="0"/>
              <a:t>Supervised Learning Overview</a:t>
            </a:r>
          </a:p>
        </p:txBody>
      </p:sp>
      <p:graphicFrame>
        <p:nvGraphicFramePr>
          <p:cNvPr id="31" name="TextBox 19">
            <a:extLst>
              <a:ext uri="{FF2B5EF4-FFF2-40B4-BE49-F238E27FC236}">
                <a16:creationId xmlns:a16="http://schemas.microsoft.com/office/drawing/2014/main" id="{252AB511-490A-7294-29FA-59AA9D924C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7313577"/>
              </p:ext>
            </p:extLst>
          </p:nvPr>
        </p:nvGraphicFramePr>
        <p:xfrm>
          <a:off x="7114309" y="2295240"/>
          <a:ext cx="4845627" cy="4048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31828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6" name="Rectangle 5135">
            <a:extLst>
              <a:ext uri="{FF2B5EF4-FFF2-40B4-BE49-F238E27FC236}">
                <a16:creationId xmlns:a16="http://schemas.microsoft.com/office/drawing/2014/main" id="{97C478F1-26B5-44C9-823B-523B85B11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8" name="Rectangle 5137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57C8B-77B7-968B-F4E4-48C16920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39" y="103368"/>
            <a:ext cx="4432410" cy="11437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cap="all" spc="300" baseline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ROC Curve Interpretation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742A8B-2192-B54A-05CB-22228F2B3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10200" y="1303020"/>
            <a:ext cx="6096000" cy="425196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BA95F6-1C8C-AB3C-B6BA-B69E8F84E82B}"/>
              </a:ext>
            </a:extLst>
          </p:cNvPr>
          <p:cNvSpPr txBox="1"/>
          <p:nvPr/>
        </p:nvSpPr>
        <p:spPr>
          <a:xfrm>
            <a:off x="249867" y="1451229"/>
            <a:ext cx="4314182" cy="502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1"/>
                </a:solidFill>
              </a:rPr>
              <a:t>LightGBM</a:t>
            </a:r>
            <a:r>
              <a:rPr lang="en-US" b="1" dirty="0">
                <a:solidFill>
                  <a:schemeClr val="bg1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AUC = 0.9930 → near‑perfect discrimination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1"/>
                </a:solidFill>
              </a:rPr>
              <a:t>XGBoost</a:t>
            </a:r>
            <a:r>
              <a:rPr lang="en-US" dirty="0">
                <a:solidFill>
                  <a:schemeClr val="bg1"/>
                </a:solidFill>
              </a:rPr>
              <a:t>: AUC = 0.9889 → extremely strong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Logistic Regression: </a:t>
            </a:r>
            <a:r>
              <a:rPr lang="en-US" dirty="0">
                <a:solidFill>
                  <a:schemeClr val="bg1"/>
                </a:solidFill>
              </a:rPr>
              <a:t>AUC = 1.0000 → perfect separation on this dataset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Random Forest</a:t>
            </a:r>
            <a:r>
              <a:rPr lang="en-US" dirty="0">
                <a:solidFill>
                  <a:schemeClr val="bg1"/>
                </a:solidFill>
              </a:rPr>
              <a:t>: AUC = 0.9808 → strong but noticeably less sensitive at lower thresholds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KNN: </a:t>
            </a:r>
            <a:r>
              <a:rPr lang="en-US" dirty="0">
                <a:solidFill>
                  <a:schemeClr val="bg1"/>
                </a:solidFill>
              </a:rPr>
              <a:t>AUC = 0.7961 → poor discrimination compared to all other model</a:t>
            </a:r>
          </a:p>
        </p:txBody>
      </p:sp>
    </p:spTree>
    <p:extLst>
      <p:ext uri="{BB962C8B-B14F-4D97-AF65-F5344CB8AC3E}">
        <p14:creationId xmlns:p14="http://schemas.microsoft.com/office/powerpoint/2010/main" val="3961742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309FA25-1772-4961-90BE-D39F20067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7C3535-4FB5-4E5B-BDFE-FA61877AF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818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E9464-3A41-5FD4-4F3B-D0C84180C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28" y="239150"/>
            <a:ext cx="5397472" cy="13036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700" b="1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Top 10 PCA Components (LightGBM Importance)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11353-2421-1874-712D-D8510068EB81}"/>
              </a:ext>
            </a:extLst>
          </p:cNvPr>
          <p:cNvSpPr txBox="1"/>
          <p:nvPr/>
        </p:nvSpPr>
        <p:spPr>
          <a:xfrm>
            <a:off x="685801" y="1817152"/>
            <a:ext cx="5485227" cy="4499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spcAft>
                <a:spcPts val="60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j-lt"/>
              </a:rPr>
              <a:t>PC1 contributes </a:t>
            </a:r>
            <a:r>
              <a:rPr lang="en-US" sz="2000" dirty="0">
                <a:solidFill>
                  <a:schemeClr val="tx2"/>
                </a:solidFill>
                <a:latin typeface="+mj-lt"/>
              </a:rPr>
              <a:t>~40–45% of total model importance  → Dominant predictor capturing global physiological stability</a:t>
            </a:r>
          </a:p>
          <a:p>
            <a:pPr marL="285750" indent="-228600">
              <a:spcAft>
                <a:spcPts val="60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j-lt"/>
              </a:rPr>
              <a:t>PC4 contributes </a:t>
            </a:r>
            <a:r>
              <a:rPr lang="en-US" sz="2000" dirty="0">
                <a:solidFill>
                  <a:schemeClr val="tx2"/>
                </a:solidFill>
                <a:latin typeface="+mj-lt"/>
              </a:rPr>
              <a:t>~10–12%  → Strong respiratory component (paCO₂, RBC‑related oxygen transport)</a:t>
            </a:r>
          </a:p>
          <a:p>
            <a:pPr marL="285750" indent="-228600">
              <a:spcAft>
                <a:spcPts val="60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j-lt"/>
              </a:rPr>
              <a:t>PC119 contributes </a:t>
            </a:r>
            <a:r>
              <a:rPr lang="en-US" sz="2000" dirty="0">
                <a:solidFill>
                  <a:schemeClr val="tx2"/>
                </a:solidFill>
                <a:latin typeface="+mj-lt"/>
              </a:rPr>
              <a:t>~6–8%  → Captures nuanced trajectory patterns (respiratory variability, CO₂ dynamics, discharge‑related variables)</a:t>
            </a:r>
          </a:p>
          <a:p>
            <a:pPr marL="285750" indent="-228600">
              <a:spcAft>
                <a:spcPts val="60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j-lt"/>
              </a:rPr>
              <a:t>Remaining top components (PC18, PC75, PC78, PC118, etc.) each contribute 2–4%  → Smaller but meaningful signals related to renal function, inflammation, and hemodynamics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DB2E43-F361-F165-A8D1-14E377ADC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74075" y="890953"/>
            <a:ext cx="4825650" cy="48043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9788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F642132-805A-497E-9C84-8D6774339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1E7F1DA-407F-41FD-AC0F-D9CAD1187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685800"/>
            <a:ext cx="4724400" cy="5486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95BBA-1F55-5243-9C01-4984B16E6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3191" y="0"/>
            <a:ext cx="4132118" cy="23604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cap="all" spc="300" baseline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Unsupervised Modelling </a:t>
            </a:r>
          </a:p>
        </p:txBody>
      </p:sp>
      <p:pic>
        <p:nvPicPr>
          <p:cNvPr id="1026" name="Picture 2" descr="Story pin image">
            <a:extLst>
              <a:ext uri="{FF2B5EF4-FFF2-40B4-BE49-F238E27FC236}">
                <a16:creationId xmlns:a16="http://schemas.microsoft.com/office/drawing/2014/main" id="{218EF964-2462-CE03-521B-43194A4FC1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>
            <a:fillRect/>
          </a:stretch>
        </p:blipFill>
        <p:spPr bwMode="auto">
          <a:xfrm>
            <a:off x="1" y="10"/>
            <a:ext cx="60960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3402AD-00E8-995A-99A5-84DE79B57D5A}"/>
              </a:ext>
            </a:extLst>
          </p:cNvPr>
          <p:cNvSpPr txBox="1"/>
          <p:nvPr/>
        </p:nvSpPr>
        <p:spPr>
          <a:xfrm>
            <a:off x="7072745" y="2953999"/>
            <a:ext cx="4333010" cy="1913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K-Means Clustering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Hierarchical Clustering </a:t>
            </a:r>
          </a:p>
        </p:txBody>
      </p:sp>
    </p:spTree>
    <p:extLst>
      <p:ext uri="{BB962C8B-B14F-4D97-AF65-F5344CB8AC3E}">
        <p14:creationId xmlns:p14="http://schemas.microsoft.com/office/powerpoint/2010/main" val="2876776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1FB7DE9-F562-4290-99B7-8C2189D61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54F8A8-7D5A-4944-8B6C-36BBF5C0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3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F896B02-FC47-BC85-8F32-0145536BA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9382" y="53098"/>
            <a:ext cx="8115299" cy="12654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K‑Means Clustering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1D958C-B9C7-B70F-CFB2-323482495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5413" y="1552795"/>
            <a:ext cx="6680342" cy="4359632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3C1903-6680-BAD0-C1C3-8B527C284D60}"/>
              </a:ext>
            </a:extLst>
          </p:cNvPr>
          <p:cNvSpPr txBox="1"/>
          <p:nvPr/>
        </p:nvSpPr>
        <p:spPr>
          <a:xfrm>
            <a:off x="7688285" y="1199382"/>
            <a:ext cx="3588302" cy="4459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Optimal k = 2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Silhouette Score peaks at 0.85 → strong separation for k = 2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Elbow Method shows diminishing returns after k = 2</a:t>
            </a:r>
          </a:p>
        </p:txBody>
      </p:sp>
    </p:spTree>
    <p:extLst>
      <p:ext uri="{BB962C8B-B14F-4D97-AF65-F5344CB8AC3E}">
        <p14:creationId xmlns:p14="http://schemas.microsoft.com/office/powerpoint/2010/main" val="2705303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2" name="Rectangle 2071">
            <a:extLst>
              <a:ext uri="{FF2B5EF4-FFF2-40B4-BE49-F238E27FC236}">
                <a16:creationId xmlns:a16="http://schemas.microsoft.com/office/drawing/2014/main" id="{97C478F1-26B5-44C9-823B-523B85B11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3" name="Rectangle 2072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1CCFB-1678-AF80-AD43-5D5FCCA85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874" y="157442"/>
            <a:ext cx="5072211" cy="676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kern="1200" cap="all" spc="300" baseline="0" dirty="0">
                <a:latin typeface="+mj-lt"/>
                <a:ea typeface="+mj-ea"/>
                <a:cs typeface="+mj-cs"/>
              </a:rPr>
              <a:t>K‑Means Clustering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9C3F5CC-0C79-0F13-523B-04E7737C77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5110138"/>
              </p:ext>
            </p:extLst>
          </p:nvPr>
        </p:nvGraphicFramePr>
        <p:xfrm>
          <a:off x="5667459" y="1018249"/>
          <a:ext cx="5619582" cy="5486403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3172544">
                  <a:extLst>
                    <a:ext uri="{9D8B030D-6E8A-4147-A177-3AD203B41FA5}">
                      <a16:colId xmlns:a16="http://schemas.microsoft.com/office/drawing/2014/main" val="3948818147"/>
                    </a:ext>
                  </a:extLst>
                </a:gridCol>
                <a:gridCol w="1223519">
                  <a:extLst>
                    <a:ext uri="{9D8B030D-6E8A-4147-A177-3AD203B41FA5}">
                      <a16:colId xmlns:a16="http://schemas.microsoft.com/office/drawing/2014/main" val="326775919"/>
                    </a:ext>
                  </a:extLst>
                </a:gridCol>
                <a:gridCol w="1223519">
                  <a:extLst>
                    <a:ext uri="{9D8B030D-6E8A-4147-A177-3AD203B41FA5}">
                      <a16:colId xmlns:a16="http://schemas.microsoft.com/office/drawing/2014/main" val="2738773196"/>
                    </a:ext>
                  </a:extLst>
                </a:gridCol>
              </a:tblGrid>
              <a:tr h="5664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cap="none" spc="0">
                          <a:solidFill>
                            <a:schemeClr val="bg1"/>
                          </a:solidFill>
                          <a:effectLst/>
                        </a:rPr>
                        <a:t>Metric</a:t>
                      </a:r>
                      <a:endParaRPr lang="en-US" sz="1800" b="1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114907" marB="11490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cap="none" spc="0">
                          <a:solidFill>
                            <a:schemeClr val="bg1"/>
                          </a:solidFill>
                          <a:effectLst/>
                        </a:rPr>
                        <a:t>Cluster 0</a:t>
                      </a:r>
                      <a:endParaRPr lang="en-US" sz="1800" b="1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114907" marB="11490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cap="none" spc="0">
                          <a:solidFill>
                            <a:schemeClr val="bg1"/>
                          </a:solidFill>
                          <a:effectLst/>
                        </a:rPr>
                        <a:t>Cluster 1</a:t>
                      </a:r>
                      <a:endParaRPr lang="en-US" sz="1800" b="1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114907" marB="11490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042121"/>
                  </a:ext>
                </a:extLst>
              </a:tr>
              <a:tr h="4099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Number of Patients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2367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915601"/>
                  </a:ext>
                </a:extLst>
              </a:tr>
              <a:tr h="4099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Heart Rate (mean)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83.78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79.27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723056"/>
                  </a:ext>
                </a:extLst>
              </a:tr>
              <a:tr h="4099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Temperature (mean)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37.15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37.12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956670"/>
                  </a:ext>
                </a:extLst>
              </a:tr>
              <a:tr h="4099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Oxygen Saturation (SpO₂ mean)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95.96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96.92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998642"/>
                  </a:ext>
                </a:extLst>
              </a:tr>
              <a:tr h="4099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Respiration Rate (mean)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19.57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21.52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899678"/>
                  </a:ext>
                </a:extLst>
              </a:tr>
              <a:tr h="4099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CVP (mean)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16.11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11.72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57617"/>
                  </a:ext>
                </a:extLst>
              </a:tr>
              <a:tr h="4099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End-tidal CO₂ (mean)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29.91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30.00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588675"/>
                  </a:ext>
                </a:extLst>
              </a:tr>
              <a:tr h="4099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Systemic Systolic BP (mean)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122.73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123.21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362070"/>
                  </a:ext>
                </a:extLst>
              </a:tr>
              <a:tr h="4099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Systemic Diastolic BP (mean)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61.39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60.07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359160"/>
                  </a:ext>
                </a:extLst>
              </a:tr>
              <a:tr h="4099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Systemic Mean BP (mean)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80.65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79.32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536194"/>
                  </a:ext>
                </a:extLst>
              </a:tr>
              <a:tr h="4099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PA Mean Pressure (mean)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25.15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23.84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877448"/>
                  </a:ext>
                </a:extLst>
              </a:tr>
              <a:tr h="4099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ICP (mean)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11.03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11.00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435" marR="57453" marT="0" marB="11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7330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F7B7332-FCF8-0545-6933-2945C8B3E8A5}"/>
              </a:ext>
            </a:extLst>
          </p:cNvPr>
          <p:cNvSpPr txBox="1"/>
          <p:nvPr/>
        </p:nvSpPr>
        <p:spPr>
          <a:xfrm>
            <a:off x="115459" y="266563"/>
            <a:ext cx="4531582" cy="6324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1"/>
                </a:solidFill>
              </a:rPr>
              <a:t>Cluster Sizes: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Cluster 0: 2,367 patients (99.66%)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Cluster 1: 8 patients (0.34%) → extreme imbalance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1"/>
                </a:solidFill>
              </a:rPr>
              <a:t>Vital Sign Differences (Means):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i="1" dirty="0">
                <a:solidFill>
                  <a:schemeClr val="bg1"/>
                </a:solidFill>
              </a:rPr>
              <a:t>Respiration Rate</a:t>
            </a:r>
            <a:r>
              <a:rPr lang="en-US" sz="1700" dirty="0">
                <a:solidFill>
                  <a:schemeClr val="bg1"/>
                </a:solidFill>
              </a:rPr>
              <a:t>: 21.52 (Cluster 1) vs 19.57 (Cluster 0)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i="1" dirty="0">
                <a:solidFill>
                  <a:schemeClr val="bg1"/>
                </a:solidFill>
              </a:rPr>
              <a:t>CVP</a:t>
            </a:r>
            <a:r>
              <a:rPr lang="en-US" sz="1700" dirty="0">
                <a:solidFill>
                  <a:schemeClr val="bg1"/>
                </a:solidFill>
              </a:rPr>
              <a:t>: 11.72 (Cluster 1) vs 16.11 (Cluster 0)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i="1" dirty="0">
                <a:solidFill>
                  <a:schemeClr val="bg1"/>
                </a:solidFill>
              </a:rPr>
              <a:t>SpO₂</a:t>
            </a:r>
            <a:r>
              <a:rPr lang="en-US" sz="1700" dirty="0">
                <a:solidFill>
                  <a:schemeClr val="bg1"/>
                </a:solidFill>
              </a:rPr>
              <a:t>: 96.92% (Cluster 1) vs 95.96% (Cluster 0)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1"/>
                </a:solidFill>
              </a:rPr>
              <a:t>Interpretation: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Cluster 1 shows higher respiratory drive + lower venous pressure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Suggests a physiologically distinct but rare subgroup</a:t>
            </a:r>
          </a:p>
        </p:txBody>
      </p:sp>
    </p:spTree>
    <p:extLst>
      <p:ext uri="{BB962C8B-B14F-4D97-AF65-F5344CB8AC3E}">
        <p14:creationId xmlns:p14="http://schemas.microsoft.com/office/powerpoint/2010/main" val="1071796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1CA7196-CAF1-4234-8849-E335F0BC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7C3535-4FB5-4E5B-BDFE-FA61877AF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7600" y="0"/>
            <a:ext cx="47244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EE8DB4-6C67-481F-BA6C-86E2945DB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865" y="0"/>
            <a:ext cx="3390899" cy="1303606"/>
          </a:xfrm>
        </p:spPr>
        <p:txBody>
          <a:bodyPr>
            <a:normAutofit/>
          </a:bodyPr>
          <a:lstStyle/>
          <a:p>
            <a:pPr algn="ctr"/>
            <a:r>
              <a:rPr lang="en-US" sz="2700" dirty="0"/>
              <a:t>Hierarchical Clustering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34C25C-D65D-F026-25EA-3B5CBA0908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5453" y="1647998"/>
            <a:ext cx="7042430" cy="4233257"/>
          </a:xfrm>
          <a:prstGeom prst="rect">
            <a:avLst/>
          </a:prstGeom>
          <a:noFill/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EB74760-4456-E69F-02AE-4EDD34AC3F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30819" y="445467"/>
            <a:ext cx="4397962" cy="59670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Three distinct clusters emerged using Ward’s method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Cluster Sizes: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Cluster 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1,102 patients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~46%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Cluster 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842 patients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~35%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Cluster 3: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456 patients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~19%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Mortality Rates: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Cluster 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~20% mortality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highest‑risk group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Cluster 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~9% mortality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intermediate severity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Cluster 3: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0% mortality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lowest‑risk, physiologically stable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734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F9146B-4CCD-4CDB-AB9C-458005307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1FEFA6-7D4F-4746-AE64-D4D52FE7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F8DA3CF-9D4B-403A-9AD4-BB177DAB6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59E1BE-FC9B-4B2C-C182-DC9E42210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1010097"/>
            <a:ext cx="9486901" cy="1010088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Hierarchical clustering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C3F31-069F-63DC-3B3F-214F5F05B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06257"/>
            <a:ext cx="9486901" cy="354064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b="1"/>
              <a:t>Physiological Patterns:</a:t>
            </a:r>
            <a:endParaRPr lang="en-US" sz="1700"/>
          </a:p>
          <a:p>
            <a:pPr lvl="1">
              <a:lnSpc>
                <a:spcPct val="90000"/>
              </a:lnSpc>
            </a:pPr>
            <a:r>
              <a:rPr lang="en-US" sz="1700"/>
              <a:t>Cluster 1: elevated APACHE, high variability in vitals, more ventilation days</a:t>
            </a:r>
          </a:p>
          <a:p>
            <a:pPr lvl="1">
              <a:lnSpc>
                <a:spcPct val="90000"/>
              </a:lnSpc>
            </a:pPr>
            <a:r>
              <a:rPr lang="en-US" sz="1700"/>
              <a:t>Cluster 2: moderate severity, moderate variability</a:t>
            </a:r>
          </a:p>
          <a:p>
            <a:pPr lvl="1">
              <a:lnSpc>
                <a:spcPct val="90000"/>
              </a:lnSpc>
            </a:pPr>
            <a:r>
              <a:rPr lang="en-US" sz="1700"/>
              <a:t>Cluster 3: stable vitals, lower APACHE, minimal respiratory instability</a:t>
            </a:r>
          </a:p>
          <a:p>
            <a:pPr>
              <a:lnSpc>
                <a:spcPct val="90000"/>
              </a:lnSpc>
            </a:pPr>
            <a:r>
              <a:rPr lang="en-US" sz="1700" b="1"/>
              <a:t>Interpretation</a:t>
            </a:r>
          </a:p>
          <a:p>
            <a:pPr>
              <a:lnSpc>
                <a:spcPct val="90000"/>
              </a:lnSpc>
            </a:pPr>
            <a:r>
              <a:rPr lang="en-US" sz="1700"/>
              <a:t>Hierarchical clustering captures </a:t>
            </a:r>
            <a:r>
              <a:rPr lang="en-US" sz="1700" b="1"/>
              <a:t>nested severity gradients</a:t>
            </a:r>
            <a:r>
              <a:rPr lang="en-US" sz="1700"/>
              <a:t> that K‑Means missed</a:t>
            </a:r>
          </a:p>
          <a:p>
            <a:pPr>
              <a:lnSpc>
                <a:spcPct val="90000"/>
              </a:lnSpc>
            </a:pPr>
            <a:r>
              <a:rPr lang="en-US" sz="1700"/>
              <a:t>Clusters map onto </a:t>
            </a:r>
            <a:r>
              <a:rPr lang="en-US" sz="1700" b="1"/>
              <a:t>clinically meaningful phenotypes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/>
              <a:t>Suggests ICU patients follow </a:t>
            </a:r>
            <a:r>
              <a:rPr lang="en-US" sz="1700" b="1"/>
              <a:t>distinct physiological trajectories</a:t>
            </a:r>
            <a:r>
              <a:rPr lang="en-US" sz="1700"/>
              <a:t> rather than a single deterioration pathway</a:t>
            </a:r>
          </a:p>
          <a:p>
            <a:pPr>
              <a:lnSpc>
                <a:spcPct val="9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388807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4" name="Rectangle 5143">
            <a:extLst>
              <a:ext uri="{FF2B5EF4-FFF2-40B4-BE49-F238E27FC236}">
                <a16:creationId xmlns:a16="http://schemas.microsoft.com/office/drawing/2014/main" id="{8EBD63AD-33A9-4D22-9A5B-438B663EC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5" name="Rectangle 5144">
            <a:extLst>
              <a:ext uri="{FF2B5EF4-FFF2-40B4-BE49-F238E27FC236}">
                <a16:creationId xmlns:a16="http://schemas.microsoft.com/office/drawing/2014/main" id="{2BAD9CC4-644A-42E5-A6A6-082517FA6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8" y="0"/>
            <a:ext cx="6096001" cy="6857999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7D5BA7-62F9-356D-8EBF-A22C01BCA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42" y="68573"/>
            <a:ext cx="5870190" cy="102288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Clinical Implications</a:t>
            </a:r>
          </a:p>
        </p:txBody>
      </p:sp>
      <p:pic>
        <p:nvPicPr>
          <p:cNvPr id="5122" name="Picture 2" descr="This may contain: an operating room with many monitors and medical equipment on the wall, all connected to each other">
            <a:extLst>
              <a:ext uri="{FF2B5EF4-FFF2-40B4-BE49-F238E27FC236}">
                <a16:creationId xmlns:a16="http://schemas.microsoft.com/office/drawing/2014/main" id="{D3A335E4-E901-BC31-3E17-0BE74F198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99" r="-3" b="10740"/>
          <a:stretch>
            <a:fillRect/>
          </a:stretch>
        </p:blipFill>
        <p:spPr bwMode="auto">
          <a:xfrm>
            <a:off x="755375" y="1316262"/>
            <a:ext cx="4373218" cy="507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F9E02-4E27-3625-9AC0-7AB6710A31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84898" y="174930"/>
            <a:ext cx="5542060" cy="63769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62500" lnSpcReduction="20000"/>
          </a:bodyPr>
          <a:lstStyle/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Early identification of high‑risk patients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achieves &gt;0.99 AUC, enabling reliable early risk stratification</a:t>
            </a:r>
          </a:p>
          <a:p>
            <a:pPr lvl="1" eaLnBrk="0" fontAlgn="base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PC1 and PC4 capture global severity + respiratory instability within the first 24 hours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Supports proactive interventions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High‑risk patients could receive earlier respiratory support, fluid management, or closer monitoring</a:t>
            </a:r>
          </a:p>
          <a:p>
            <a:pPr lvl="1" eaLnBrk="0" fontAlgn="base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Reduces time‑to‑intervention during deterioration windows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Improves resource allocation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Helps prioritize ICU beds, ventilators, and staffing for patients with the highest predicted risk</a:t>
            </a:r>
          </a:p>
          <a:p>
            <a:pPr lvl="1" eaLnBrk="0" fontAlgn="base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Clusters reveal distinct physiological trajectories, enabling tailored monitoring intensity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Enhances clinical decision support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Models can augment—not replace—clinical judgment</a:t>
            </a:r>
          </a:p>
          <a:p>
            <a:pPr lvl="1" eaLnBrk="0" fontAlgn="base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Provides continuous, data‑driven risk estimates rather than static APACHE snapshot</a:t>
            </a:r>
          </a:p>
          <a:p>
            <a:pPr marL="0" marR="0" lvl="0" indent="0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484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C6D67C5-9C55-4C2E-B79A-D2C532A2D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62F85E-7856-415B-BA26-EFA2D2EF0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60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A94DEED-5E0F-4E41-A445-58C14864C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0"/>
            <a:ext cx="3390900" cy="411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75919-8A3D-9ED7-7724-CE88D631C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526" y="1695893"/>
            <a:ext cx="2732567" cy="3487480"/>
          </a:xfrm>
        </p:spPr>
        <p:txBody>
          <a:bodyPr anchor="ctr">
            <a:normAutofit/>
          </a:bodyPr>
          <a:lstStyle/>
          <a:p>
            <a:pPr algn="ctr"/>
            <a:r>
              <a:rPr lang="en-US" sz="2700"/>
              <a:t>limitations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1FEFA6-7D4F-4746-AE64-D4D52FE7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F8DA3CF-9D4B-403A-9AD4-BB177DAB6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685800"/>
            <a:ext cx="4724400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7F757-B1C1-83B5-8AA4-4CD09371A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1800" y="1115291"/>
            <a:ext cx="4648200" cy="4779818"/>
          </a:xfrm>
        </p:spPr>
        <p:txBody>
          <a:bodyPr anchor="ctr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32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PCA reduces interpretability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Clustering imbalance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No deep temporal modeling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No external validation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Potential dataset bias</a:t>
            </a:r>
          </a:p>
          <a:p>
            <a:pPr>
              <a:lnSpc>
                <a:spcPct val="15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56221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30103171-0BA0-4AF0-AF05-04AFA1A4A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This may contain: a computer monitor sitting on top of a desk next to a clock and other electronic equipment">
            <a:extLst>
              <a:ext uri="{FF2B5EF4-FFF2-40B4-BE49-F238E27FC236}">
                <a16:creationId xmlns:a16="http://schemas.microsoft.com/office/drawing/2014/main" id="{A853544D-D14F-E0C3-0888-59ED53B711A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"/>
          <a:stretch>
            <a:fillRect/>
          </a:stretch>
        </p:blipFill>
        <p:spPr bwMode="auto">
          <a:xfrm>
            <a:off x="20" y="10"/>
            <a:ext cx="4762480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Rectangle 3080">
            <a:extLst>
              <a:ext uri="{FF2B5EF4-FFF2-40B4-BE49-F238E27FC236}">
                <a16:creationId xmlns:a16="http://schemas.microsoft.com/office/drawing/2014/main" id="{E128B901-D4EA-4C4D-A150-23D2A6DEC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9459" y="1"/>
            <a:ext cx="7482541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A760B08A-B322-4C79-AB6D-7E4246352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685800"/>
            <a:ext cx="6099101" cy="5486400"/>
          </a:xfrm>
          <a:prstGeom prst="rect">
            <a:avLst/>
          </a:prstGeom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1E367-3C92-4F90-2586-F5D4F1AD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2279" y="685799"/>
            <a:ext cx="5676900" cy="10927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Future directions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22023F-18AF-202B-4EC1-5C039853C465}"/>
              </a:ext>
            </a:extLst>
          </p:cNvPr>
          <p:cNvSpPr txBox="1">
            <a:spLocks/>
          </p:cNvSpPr>
          <p:nvPr/>
        </p:nvSpPr>
        <p:spPr>
          <a:xfrm>
            <a:off x="5612279" y="2160584"/>
            <a:ext cx="5579920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Integrate deep temporal models</a:t>
            </a:r>
          </a:p>
          <a:p>
            <a:r>
              <a:rPr lang="en-US" sz="3200" dirty="0"/>
              <a:t>Improve interpretability of PCA‑based models</a:t>
            </a:r>
          </a:p>
          <a:p>
            <a:r>
              <a:rPr lang="en-US" sz="3200" dirty="0"/>
              <a:t>Refine clustering with advanced methods</a:t>
            </a:r>
            <a:endParaRPr lang="en-US" sz="3200" b="1" dirty="0"/>
          </a:p>
          <a:p>
            <a:r>
              <a:rPr lang="en-US" sz="3200" dirty="0"/>
              <a:t>Enhance feature engineering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54347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9E433CB3-EAB2-4842-A1DD-7BC051B5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Story pin image">
            <a:extLst>
              <a:ext uri="{FF2B5EF4-FFF2-40B4-BE49-F238E27FC236}">
                <a16:creationId xmlns:a16="http://schemas.microsoft.com/office/drawing/2014/main" id="{36D495C9-2E85-D7CB-DE11-03878E24CC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8" b="28363"/>
          <a:stretch>
            <a:fillRect/>
          </a:stretch>
        </p:blipFill>
        <p:spPr bwMode="auto">
          <a:xfrm>
            <a:off x="0" y="10"/>
            <a:ext cx="121920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3082">
            <a:extLst>
              <a:ext uri="{FF2B5EF4-FFF2-40B4-BE49-F238E27FC236}">
                <a16:creationId xmlns:a16="http://schemas.microsoft.com/office/drawing/2014/main" id="{D37E9081-32E2-43C3-80C8-7F3854D9D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3429000"/>
          </a:xfrm>
          <a:prstGeom prst="rect">
            <a:avLst/>
          </a:prstGeom>
          <a:gradFill>
            <a:gsLst>
              <a:gs pos="47000">
                <a:srgbClr val="000000">
                  <a:alpha val="23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84E617-F2CB-4D1B-F6CA-D21C2F17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28" y="2508636"/>
            <a:ext cx="9486900" cy="12815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b="1" kern="1200" cap="all" spc="300" baseline="0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49079632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FrameVTI">
  <a:themeElements>
    <a:clrScheme name="Custom 22">
      <a:dk1>
        <a:sysClr val="windowText" lastClr="000000"/>
      </a:dk1>
      <a:lt1>
        <a:sysClr val="window" lastClr="FFFFFF"/>
      </a:lt1>
      <a:dk2>
        <a:srgbClr val="293737"/>
      </a:dk2>
      <a:lt2>
        <a:srgbClr val="EEF2F0"/>
      </a:lt2>
      <a:accent1>
        <a:srgbClr val="749090"/>
      </a:accent1>
      <a:accent2>
        <a:srgbClr val="A5A5A5"/>
      </a:accent2>
      <a:accent3>
        <a:srgbClr val="91A39B"/>
      </a:accent3>
      <a:accent4>
        <a:srgbClr val="A9A698"/>
      </a:accent4>
      <a:accent5>
        <a:srgbClr val="A2A79A"/>
      </a:accent5>
      <a:accent6>
        <a:srgbClr val="897F65"/>
      </a:accent6>
      <a:hlink>
        <a:srgbClr val="92872F"/>
      </a:hlink>
      <a:folHlink>
        <a:srgbClr val="AB73A9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2639</TotalTime>
  <Words>1074</Words>
  <Application>Microsoft Office PowerPoint</Application>
  <PresentationFormat>Widescreen</PresentationFormat>
  <Paragraphs>207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Gill Sans MT</vt:lpstr>
      <vt:lpstr>Goudy Old Style</vt:lpstr>
      <vt:lpstr>ClassicFrameVTI</vt:lpstr>
      <vt:lpstr>Predicting ICU Patient Deterioration and Mapping Their Trajectories</vt:lpstr>
      <vt:lpstr>Why ICU Deterioration Prediction Matters</vt:lpstr>
      <vt:lpstr>Central Research Question</vt:lpstr>
      <vt:lpstr>What Prior Work Missed</vt:lpstr>
      <vt:lpstr>Dataset Overview </vt:lpstr>
      <vt:lpstr>Data Preprocessing</vt:lpstr>
      <vt:lpstr>Exploratory Data Analysis</vt:lpstr>
      <vt:lpstr>Exploratory Data Analysis</vt:lpstr>
      <vt:lpstr>Exploratory Data Analysis</vt:lpstr>
      <vt:lpstr>Time‑Series Feature Engineering</vt:lpstr>
      <vt:lpstr>PCA  Dimensionality Reduction  Results </vt:lpstr>
      <vt:lpstr>Supervised Learning Overview</vt:lpstr>
      <vt:lpstr>PowerPoint Presentation</vt:lpstr>
      <vt:lpstr>ROC Curve Interpretation</vt:lpstr>
      <vt:lpstr>Top 10 PCA Components (LightGBM Importance)</vt:lpstr>
      <vt:lpstr>Unsupervised Modelling </vt:lpstr>
      <vt:lpstr>K‑Means Clustering</vt:lpstr>
      <vt:lpstr>K‑Means Clustering</vt:lpstr>
      <vt:lpstr>Hierarchical Clustering</vt:lpstr>
      <vt:lpstr>Hierarchical clustering </vt:lpstr>
      <vt:lpstr>Clinical Implications</vt:lpstr>
      <vt:lpstr>limitations</vt:lpstr>
      <vt:lpstr>Future directions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Nite</dc:creator>
  <cp:lastModifiedBy>Alex Nite</cp:lastModifiedBy>
  <cp:revision>3</cp:revision>
  <dcterms:created xsi:type="dcterms:W3CDTF">2026-05-06T19:30:11Z</dcterms:created>
  <dcterms:modified xsi:type="dcterms:W3CDTF">2026-05-09T00:49:56Z</dcterms:modified>
</cp:coreProperties>
</file>